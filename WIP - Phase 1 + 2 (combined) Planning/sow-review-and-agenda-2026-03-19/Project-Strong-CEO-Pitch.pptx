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presProps" Target="presProps.xml"/><Relationship Id="rId21" Type="http://schemas.openxmlformats.org/officeDocument/2006/relationships/slide" Target="slides/slide14.xml"/><Relationship Id="rId7" Type="http://schemas.openxmlformats.org/officeDocument/2006/relationships/slide" Target="slides/slide1.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printerSettings" Target="printerSettings/printerSettings1.bin"/><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slide" Target="slides/slide4.xml"/><Relationship Id="rId24" Type="http://schemas.openxmlformats.org/officeDocument/2006/relationships/customXml" Target="../customXml/item3.xml"/><Relationship Id="rId5" Type="http://schemas.openxmlformats.org/officeDocument/2006/relationships/theme" Target="theme/theme1.xml"/><Relationship Id="rId15" Type="http://schemas.openxmlformats.org/officeDocument/2006/relationships/slide" Target="slides/slide8.xml"/><Relationship Id="rId23" Type="http://schemas.openxmlformats.org/officeDocument/2006/relationships/customXml" Target="../customXml/item2.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viewProps" Target="viewProps.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OPENS:</a:t>
            </a:r>
          </a:p>
          <a:p>
            <a:r>
              <a:t>"Thank you for having us. We've spent the last several weeks embedded in your organization -- interviewing 8 departments, surveying 41 franchisees, visiting 5 locations in person, and cataloging over 150 requirements."</a:t>
            </a:r>
          </a:p>
          <a:p/>
          <a:p>
            <a:r>
              <a:t>"Today we're going to walk you through what we found, how Gold's compares to the market, and what we recommend as a path forward."</a:t>
            </a:r>
          </a:p>
          <a:p/>
          <a:p>
            <a:r>
              <a:t>Set the tone: This is a partnership, not a vendor pitch. We're here to help Gold's make the right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Opens with the vision:</a:t>
            </a:r>
          </a:p>
          <a:p>
            <a:r>
              <a:t>- Gold's Gym is entering its next era</a:t>
            </a:r>
          </a:p>
          <a:p>
            <a:r>
              <a:t>- Project Strong = the unified franchise model for the Gold's Gym of the Future</a:t>
            </a:r>
          </a:p>
          <a:p>
            <a:r>
              <a:t>- "The hub of human performance in sports, fitness and wellness"</a:t>
            </a:r>
          </a:p>
          <a:p>
            <a:r>
              <a:t>- Category leadership in Strength, Performance, and Aspirational Fitness Culture</a:t>
            </a:r>
          </a:p>
          <a:p>
            <a:r>
              <a:t>- This is NOT another HVLP gym — "Your first time here is NOT your first time doing fitness. This is the place you graduate to."</a:t>
            </a:r>
          </a:p>
          <a:p>
            <a:r>
              <a:t>- "Not intimidating... it is home to the athlete, the fitness enthusiast, the hybrid training person"</a:t>
            </a:r>
          </a:p>
          <a:p>
            <a:r>
              <a:t>- "Belonging to Gold's means something."</a:t>
            </a:r>
          </a:p>
          <a:p/>
          <a:p>
            <a:r>
              <a:t>MATT — Reinforces:</a:t>
            </a:r>
          </a:p>
          <a:p>
            <a:r>
              <a:t>- 30,000 sq ft strength-forward flagship</a:t>
            </a:r>
          </a:p>
          <a:p>
            <a:r>
              <a:t>- Premium pricing double HVLP ($49.95-$69.95+)</a:t>
            </a:r>
          </a:p>
          <a:p>
            <a:r>
              <a:t>- Lean operations model (GM + AGM)</a:t>
            </a:r>
          </a:p>
          <a:p>
            <a:r>
              <a:t>- Precision health is in Gold's DNA — "we facilitate the old school training and the new age approach all in one place"</a:t>
            </a:r>
          </a:p>
          <a:p>
            <a:r>
              <a:t>- Every element of Project Strong requires unified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Reference the Austin location as the model:</a:t>
            </a:r>
          </a:p>
          <a:p>
            <a:r>
              <a:t>- Walk through each amenity category</a:t>
            </a:r>
          </a:p>
          <a:p>
            <a:r>
              <a:t>- Emphasize this is NOT the old Gold's model — no basketball courts, no lap pools</a:t>
            </a:r>
          </a:p>
          <a:p>
            <a:r>
              <a:t>- Limited old school group exercise — classes are performance and small-group based</a:t>
            </a:r>
          </a:p>
          <a:p>
            <a:r>
              <a:t>- Recovery suite is tier-gated (Performance+ only) — creates upsell revenue</a:t>
            </a:r>
          </a:p>
          <a:p>
            <a:r>
              <a:t>- KEY MIKE LINE: "Off days become on days at Gold's" — the recovery suite means members come in on rest days. This is a retention and revenue insight.</a:t>
            </a:r>
          </a:p>
          <a:p>
            <a:r>
              <a:t>- Precision health: peptides, blood testing, supplements — "We are all about human optimization and precision health"</a:t>
            </a:r>
          </a:p>
          <a:p>
            <a:r>
              <a:t>- "From 90% to 91% — we know that your performance matters"</a:t>
            </a:r>
          </a:p>
          <a:p/>
          <a:p>
            <a:r>
              <a:t>INSERT AUSTIN LOCATION PHOTOS here — show the actual facility layout and amenity spaces as the reference model.</a:t>
            </a:r>
          </a:p>
          <a:p/>
          <a:p>
            <a:r>
              <a:t>Key message: "Every single amenity here requires technology behind it. That's why this isn't just a design exercise — it's a technology architecture project."</a:t>
            </a:r>
          </a:p>
          <a:p/>
          <a:p>
            <a:r>
              <a:t>MATT — Can add: "We'll come back to this on Slide 9 where we map each amenity to the specific tech it needs."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Tells the story of what they heard:</a:t>
            </a:r>
          </a:p>
          <a:p>
            <a:r>
              <a:t>- KEY FRAMING: "Tech Stack does NOT equal Growth &amp; Scale. Clubs are operating as local business owners, not as a unified franchise brand."</a:t>
            </a:r>
          </a:p>
          <a:p>
            <a:r>
              <a:t>- This is the thesis of the problem: the current tech doesn't support franchise growth — it keeps each club as an island.</a:t>
            </a:r>
          </a:p>
          <a:p>
            <a:r>
              <a:t>- Walk through stakeholder interviews at high level — 8 departments</a:t>
            </a:r>
          </a:p>
          <a:p>
            <a:r>
              <a:t>- "Your franchisees rated overall tech satisfaction at 2.5 out of 5. That's not a technology problem — that's a competitive positioning problem."</a:t>
            </a:r>
          </a:p>
          <a:p>
            <a:r>
              <a:t>- ELEVATE BULLET 7: "Your tech provider IS your strategy vs. having a strategy with tech that supports it" — this is the core insight. Linger here.</a:t>
            </a:r>
          </a:p>
          <a:p/>
          <a:p>
            <a:r>
              <a:t>MATT — Adds technical depth:</a:t>
            </a:r>
          </a:p>
          <a:p>
            <a:r>
              <a:t>- Current System Scores: ABC at 2.3/5, Motionsoft at 2.0/5, HubSpot CRM at 2.5/5, Motion Vibe at 4.5/5</a:t>
            </a:r>
          </a:p>
          <a:p>
            <a:r>
              <a:t>- Technology Fragmentation: core gym management, CRM, websites, mobile apps are all disconnected</a:t>
            </a:r>
          </a:p>
          <a:p>
            <a:r>
              <a:t>- Critical Gaps: no brand-level controls, no real-time revenue visibility, no unified member database</a:t>
            </a:r>
          </a:p>
          <a:p>
            <a:r>
              <a:t>- "The gap isn't about any single system being bad — it's that nothing talks to anything else. You have islands of data that can't work together."</a:t>
            </a:r>
          </a:p>
          <a:p/>
          <a:p>
            <a:r>
              <a:t>Key stat: Franchisee tech satisfaction 2.5/5, Website is #1 pain point, 20-30+ fragmented apps, 0 SMS capability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Frames the decision simply:</a:t>
            </a:r>
          </a:p>
          <a:p>
            <a:r>
              <a:t>- "There are really only three paths forward."</a:t>
            </a:r>
          </a:p>
          <a:p>
            <a:r>
              <a:t>- BUILD: Custom platform, full control, highest investment. "Powerful model — but requires more organizational readiness."</a:t>
            </a:r>
          </a:p>
          <a:p>
            <a:r>
              <a:t>- BUY: Single vendor, fastest but limiting. "No single vendor covers everything Gold's needs."</a:t>
            </a:r>
          </a:p>
          <a:p>
            <a:r>
              <a:t>- ASSEMBLE (recommended): Best-in-class vendors integrated through a layer you own.</a:t>
            </a:r>
          </a:p>
          <a:p>
            <a:r>
              <a:t>- IMPORTANT FRAMING: Don't position build as wrong — position it as aspirational. Assemble is the pragmatic starting point. "The architecture is the same either way."</a:t>
            </a:r>
          </a:p>
          <a:p/>
          <a:p>
            <a:r>
              <a:t>MATT — Adds the org and revenue angle:</a:t>
            </a:r>
          </a:p>
          <a:p>
            <a:r>
              <a:t>- Org requirements: Build 8/10, Assemble 5/10, Buy 2/10</a:t>
            </a:r>
          </a:p>
          <a:p>
            <a:r>
              <a:t>- Revenue opportunity: "Gold's currently collects $0 in technology fees. Competitors charge $5+ per join, monthly tech fees."</a:t>
            </a:r>
          </a:p>
          <a:p>
            <a:r>
              <a:t>- "Whether you assemble or build, this revenue opportunity is there."</a:t>
            </a:r>
          </a:p>
          <a:p/>
          <a:p>
            <a:r>
              <a:t>KEY THREAD: "The architecture is the same regardless — owned data layer, owned member touchpoints. The question is how you get there."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recommended architecture as 7 clear shifts from current state.</a:t>
            </a:r>
          </a:p>
          <a:p/>
          <a:p>
            <a:r>
              <a:t>Walk through each row — the "From" is where they are, the "To" is where Project Strong takes them.</a:t>
            </a:r>
          </a:p>
          <a:p/>
          <a:p>
            <a:r>
              <a:t>Key emphasis points:</a:t>
            </a:r>
          </a:p>
          <a:p>
            <a:r>
              <a:t>- Row 1 (Data-first): This is the foundation. Everything else depends on this.</a:t>
            </a:r>
          </a:p>
          <a:p>
            <a:r>
              <a:t>- Row 3 (Middleware): Gold's controls the integration layer, vendors plug in.</a:t>
            </a:r>
          </a:p>
          <a:p>
            <a:r>
              <a:t>- Row 4 (Website): Brand consistency — every franchisee on one website.</a:t>
            </a:r>
          </a:p>
          <a:p>
            <a:r>
              <a:t>- Row 5-6 (App): The app goes from "check hours and freeze membership" to "your 24/7 gym experience."</a:t>
            </a:r>
          </a:p>
          <a:p>
            <a:r>
              <a:t>- Row 7 (AI): "Brands that own their data today will deploy AI tomorrow."</a:t>
            </a:r>
          </a:p>
          <a:p/>
          <a:p>
            <a:r>
              <a:t>This slide sets up the architecture slides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 — Walk through the capability map:</a:t>
            </a:r>
          </a:p>
          <a:p>
            <a:r>
              <a:t>- Data &amp; Analytics at the center — the brain</a:t>
            </a:r>
          </a:p>
          <a:p>
            <a:r>
              <a:t>- Sales &amp; Marketing — CRM, CDP, lead management, marketing automation</a:t>
            </a:r>
          </a:p>
          <a:p>
            <a:r>
              <a:t>- Operations — member management, POS, scheduling, gate control, inventory</a:t>
            </a:r>
          </a:p>
          <a:p>
            <a:r>
              <a:t>- Member Experience — app, content, digital training, recovery booking</a:t>
            </a:r>
          </a:p>
          <a:p/>
          <a:p>
            <a:r>
              <a:t>KEY POINT: "Do NOT name specific vendors on this slide. This is about what you NEED, not who provides it. That comes later."</a:t>
            </a:r>
          </a:p>
          <a:p/>
          <a:p>
            <a:r>
              <a:t>This establishes the full scope of technology Gold's requires. The next slide shows which parts Gold's owns vs. which go to vendor RFP.</a:t>
            </a:r>
          </a:p>
          <a:p/>
          <a:p>
            <a:r>
              <a:t>PRESENTATION NOTE (from Mike): These two slides (7 and 8) are intended as a BEFORE/AFTER REVEAL. Show this slide first as the plain capability map, then click to the next slide to reveal the color-coded version showing what Gold's owns vs. what goes to RFP. Build the anticipation: "Here's everything you need... now let's talk about what YOU own vs. what vendors provide."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 — This is a KEY slide. Walk the 3-layer architecture:</a:t>
            </a:r>
          </a:p>
          <a:p/>
          <a:p>
            <a:r>
              <a:t>TOP: Member-facing touchpoints — app, portal, dashboards, website — GOLD'S OWNS THESE.</a:t>
            </a:r>
          </a:p>
          <a:p>
            <a:r>
              <a:t>"When a member opens the Gold's app, that should be YOUR experience, not ABC's, not a white-label."</a:t>
            </a:r>
          </a:p>
          <a:p/>
          <a:p>
            <a:r>
              <a:t>MIDDLE: Gold's Data &amp; Intelligence Layer — unified data model, analytics, AI, open API — GOLD'S OWNS THIS.</a:t>
            </a:r>
          </a:p>
          <a:p>
            <a:r>
              <a:t>"This is the single most strategic decision you'll make. The data layer is where AI lives. Where automation lives. Where personalization lives. If you let vendors own this, you're renting your future."</a:t>
            </a:r>
          </a:p>
          <a:p>
            <a:r>
              <a:t>"The middle layer is the moat. It's what lets you switch vendors without losing your data. It's what lets you deploy AI agents across all your systems."</a:t>
            </a:r>
          </a:p>
          <a:p/>
          <a:p>
            <a:r>
              <a:t>BOTTOM: Vendor systems of record — they do the heavy lifting, you control the integration.</a:t>
            </a:r>
          </a:p>
          <a:p/>
          <a:p>
            <a:r>
              <a:t>PLANT THE SEED: "Over time, as you build capability in this layer, you may find that building certain components yourself gives you an even bigger competitive edge. The architecture supports that evolution naturally."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abstract tech conversation to the physical gym.</a:t>
            </a:r>
          </a:p>
          <a:p/>
          <a:p>
            <a:r>
              <a:t>"Tech isn't abstract — every single amenity in your gym needs technology behind it."</a:t>
            </a:r>
          </a:p>
          <a:p/>
          <a:p>
            <a:r>
              <a:t>Walk through each row:</a:t>
            </a:r>
          </a:p>
          <a:p>
            <a:r>
              <a:t>- Free weights need gate access and occupancy tracking</a:t>
            </a:r>
          </a:p>
          <a:p>
            <a:r>
              <a:t>- HYROX training needs class scheduling and performance tracking</a:t>
            </a:r>
          </a:p>
          <a:p>
            <a:r>
              <a:t>- Recovery suite needs TIER-BASED access control (Performance+ members only) — this is revenue gating via technology</a:t>
            </a:r>
          </a:p>
          <a:p>
            <a:r>
              <a:t>- Posing room needs reservation and content/camera integration</a:t>
            </a:r>
          </a:p>
          <a:p>
            <a:r>
              <a:t>- Content zones need creator tools and social integration</a:t>
            </a:r>
          </a:p>
          <a:p>
            <a:r>
              <a:t>- Nutrition/retail needs POS tied to member accounts</a:t>
            </a:r>
          </a:p>
          <a:p>
            <a:r>
              <a:t>- Digital training is all app-delivered</a:t>
            </a:r>
          </a:p>
          <a:p/>
          <a:p>
            <a:r>
              <a:t>Key message: "This is why you can't just have a gym management system. You need an ecosystem."</a:t>
            </a:r>
          </a:p>
          <a:p/>
          <a:p>
            <a:r>
              <a:t>MATT: "And every one of these feeds data back into the middle layer we showed on the last slide."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Sets up the competitive frame:</a:t>
            </a:r>
          </a:p>
          <a:p>
            <a:r>
              <a:t>- "We analyzed 7 brands across 13 technology categories — 91 data points."</a:t>
            </a:r>
          </a:p>
          <a:p>
            <a:r>
              <a:t>- Every single one has invested in owning their member technology experience. This is table stakes.</a:t>
            </a:r>
          </a:p>
          <a:p>
            <a:r>
              <a:t>- Point out where Gold's has gaps vs. competitors</a:t>
            </a:r>
          </a:p>
          <a:p/>
          <a:p>
            <a:r>
              <a:t>MATT — Drives the strategic insight (KEY MOMENT):</a:t>
            </a:r>
          </a:p>
          <a:p>
            <a:r>
              <a:t>- "Here's the most important finding: No one built a monolithic platform. Every franchisor assembles best-in-class components."</a:t>
            </a:r>
          </a:p>
          <a:p>
            <a:r>
              <a:t>- "But the ones winning — they all own two things: the member-facing experience and the data layer underneath."</a:t>
            </a:r>
          </a:p>
          <a:p>
            <a:r>
              <a:t>- "Planet Fitness doesn't build their own gym management software. But they absolutely own the member app experience and the data pipeline."</a:t>
            </a:r>
          </a:p>
          <a:p>
            <a:r>
              <a:t>- Connect to AI: "The brands that own their data today are the ones that will deploy AI and automation tomorrow."</a:t>
            </a:r>
          </a:p>
          <a:p>
            <a:r>
              <a:t>- "None of the strength-focused brands have built this yet. Gold's can be FIRST."</a:t>
            </a:r>
          </a:p>
          <a:p/>
          <a:p>
            <a:r>
              <a:t>KEY NUANCE: "The most successful brands started by assembling — then over time began building custom components where it gave them a competitive edge."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Walks the roadmap:</a:t>
            </a:r>
          </a:p>
          <a:p>
            <a:r>
              <a:t>- "We need to architect the detailed plans and feature requirements."</a:t>
            </a:r>
          </a:p>
          <a:p>
            <a:r>
              <a:t>- "This is required to properly evaluate and select the right vendor partners."</a:t>
            </a:r>
          </a:p>
          <a:p>
            <a:r>
              <a:t>- "You can't write an RFP if you don't know what you need — that's what Phase 1 delivers."</a:t>
            </a:r>
          </a:p>
          <a:p>
            <a:r>
              <a:t>- The output: detailed feature specs, vendor evaluation criteria, and architecture blueprints.</a:t>
            </a:r>
          </a:p>
          <a:p/>
          <a:p>
            <a:r>
              <a:t>Keep this simple and forward-looking. The message is: "We know where we're going. Phase 1 maps the route."</a:t>
            </a:r>
          </a:p>
          <a:p/>
          <a:p>
            <a:r>
              <a:t>Phase 1 &amp; 2: $52,500 combined, 8-12 weeks</a:t>
            </a:r>
          </a:p>
          <a:p>
            <a:r>
              <a:t>- Phase 1 (4-6 weeks): Strategy &amp; Playbook</a:t>
            </a:r>
          </a:p>
          <a:p>
            <a:r>
              <a:t>- Phase 2 (4-6 weeks): Architecture &amp; Blueprint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Walks through the tactical plan:</a:t>
            </a:r>
          </a:p>
          <a:p>
            <a:r>
              <a:t>- "User story mapping sessions with the Gold's team — not just execs, domain experts."</a:t>
            </a:r>
          </a:p>
          <a:p>
            <a:r>
              <a:t>- "Get into the weeds on features, workflows, and edge cases."</a:t>
            </a:r>
          </a:p>
          <a:p>
            <a:r>
              <a:t>- "These sessions happen in the weeks following this kickoff."</a:t>
            </a:r>
          </a:p>
          <a:p>
            <a:r>
              <a:t>- "Output feeds directly into Phase 1 deliverables."</a:t>
            </a:r>
          </a:p>
          <a:p>
            <a:r>
              <a:t>- "Ensures we can tell vendors EXACTLY what we need — no ambiguity, no scope creep."</a:t>
            </a:r>
          </a:p>
          <a:p/>
          <a:p>
            <a:r>
              <a:t>Detail:</a:t>
            </a:r>
          </a:p>
          <a:p>
            <a:r>
              <a:t>- 15 personas already identified (Platform Admin, Club Manager, Member, Franchise Owner, etc.)</a:t>
            </a:r>
          </a:p>
          <a:p>
            <a:r>
              <a:t>- 100+ user stories drafted and ready for validation</a:t>
            </a:r>
          </a:p>
          <a:p>
            <a:r>
              <a:t>- Sessions will involve: Brad, Danny, Robbie, Ryan, Rick + domain leads as needed</a:t>
            </a:r>
          </a:p>
          <a:p/>
          <a:p>
            <a:r>
              <a:t>This is the bridge between strategy and execution.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CEO DECISION SLIDE. This is where the 45-minute discussion happens.</a:t>
            </a:r>
          </a:p>
          <a:p/>
          <a:p>
            <a:r>
              <a:t>Present each decision one at a time. State the recommendation. Ask for yes/no.</a:t>
            </a:r>
          </a:p>
          <a:p/>
          <a:p>
            <a:r>
              <a:t>PRINT THIS SLIDE AS A SEPARATE HANDOUT for Brad and Danny.</a:t>
            </a:r>
          </a:p>
          <a:p/>
          <a:p>
            <a:r>
              <a:t>Decision 1 — AMENITIES: "Are we missing anything? The Austin model is our baseline."</a:t>
            </a:r>
          </a:p>
          <a:p>
            <a:r>
              <a:t>Decision 2 — BUILD TEAM: "Agency first for speed, path to in-house over time."</a:t>
            </a:r>
          </a:p>
          <a:p>
            <a:r>
              <a:t>Decision 3 — REVENUE: "Yes — design revenue capture from day one. Join fees, tech fees, franchisee services."</a:t>
            </a:r>
          </a:p>
          <a:p>
            <a:r>
              <a:t>Decision 4 — TEAM SCOPE: "Shared services model. Corporate team supports corporate locations AND provides franchisee services."</a:t>
            </a:r>
          </a:p>
          <a:p>
            <a:r>
              <a:t>Decision 5 — BUDGET: "We'll provide tiered recommendations: minimum viable, recommended, and ideal."</a:t>
            </a:r>
          </a:p>
          <a:p/>
          <a:p>
            <a:r>
              <a:t>MIKE leads this section. MATT supports with data/technical answers as questions arise.</a:t>
            </a:r>
          </a:p>
          <a:p/>
          <a:p>
            <a:r>
              <a:t>Goal: Get directional yes/no on each so Phase 1 can proceed with clear guardrails.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 Closes with conviction:</a:t>
            </a:r>
          </a:p>
          <a:p>
            <a:r>
              <a:t>"Gold's Gym created the modern gym industry. Project Strong will redefine it for the modern era."</a:t>
            </a:r>
          </a:p>
          <a:p/>
          <a:p>
            <a:r>
              <a:t>"Thank you — let's build this."</a:t>
            </a:r>
          </a:p>
          <a:p/>
          <a:p>
            <a:r>
              <a:t>This should feel like the natural conclusion. Confident, not salesy. The work speaks for itself.</a:t>
            </a:r>
          </a:p>
          <a:p/>
          <a:p>
            <a:r>
              <a:t>After this slide, transition to the 45-minute decision discussion (Slide 13 decisions).</a:t>
            </a:r>
          </a:p>
          <a:p>
            <a:r>
              <a:t>If time allows, offer to walk through any section of the interactive final report in more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lstStyle/>
          <a:p>
            <a:pPr algn="ctr">
              <a:defRPr sz="4400" b="1">
                <a:solidFill>
                  <a:srgbClr val="F2C23E"/>
                </a:solidFill>
                <a:latin typeface="Arial Black"/>
              </a:defRPr>
            </a:pPr>
            <a:r>
              <a:t>GOLD'S GYM  x  STACKHACK LABS</a:t>
            </a:r>
          </a:p>
        </p:txBody>
      </p:sp>
      <p:sp>
        <p:nvSpPr>
          <p:cNvPr id="3" name="TextBox 2"/>
          <p:cNvSpPr txBox="1"/>
          <p:nvPr/>
        </p:nvSpPr>
        <p:spPr>
          <a:xfrm>
            <a:off x="914400" y="2743200"/>
            <a:ext cx="10058400" cy="731520"/>
          </a:xfrm>
          <a:prstGeom prst="rect">
            <a:avLst/>
          </a:prstGeom>
          <a:noFill/>
        </p:spPr>
        <p:txBody>
          <a:bodyPr wrap="square"/>
          <a:lstStyle/>
          <a:p>
            <a:pPr algn="ctr">
              <a:defRPr sz="3200" b="0">
                <a:solidFill>
                  <a:srgbClr val="FFFFFF"/>
                </a:solidFill>
                <a:latin typeface="Arial Black"/>
              </a:defRPr>
            </a:pPr>
            <a:r>
              <a:t>Build  vs.  Assemble  vs.  Buy</a:t>
            </a:r>
          </a:p>
        </p:txBody>
      </p:sp>
      <p:sp>
        <p:nvSpPr>
          <p:cNvPr id="4" name="Rectangle 3"/>
          <p:cNvSpPr/>
          <p:nvPr/>
        </p:nvSpPr>
        <p:spPr>
          <a:xfrm>
            <a:off x="4572000" y="3657600"/>
            <a:ext cx="2743200" cy="381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058400" cy="457200"/>
          </a:xfrm>
          <a:prstGeom prst="rect">
            <a:avLst/>
          </a:prstGeom>
          <a:noFill/>
        </p:spPr>
        <p:txBody>
          <a:bodyPr wrap="square"/>
          <a:lstStyle/>
          <a:p>
            <a:pPr algn="ctr">
              <a:defRPr sz="1600" b="0">
                <a:solidFill>
                  <a:srgbClr val="555555"/>
                </a:solidFill>
                <a:latin typeface="Calibri"/>
              </a:defRPr>
            </a:pPr>
            <a:r>
              <a:t>March 31, 2026  |  Executive Strategy Session  |  Block 1, Day 1</a:t>
            </a:r>
          </a:p>
        </p:txBody>
      </p:sp>
      <p:sp>
        <p:nvSpPr>
          <p:cNvPr id="6" name="TextBox 5"/>
          <p:cNvSpPr txBox="1"/>
          <p:nvPr/>
        </p:nvSpPr>
        <p:spPr>
          <a:xfrm>
            <a:off x="914400" y="5029200"/>
            <a:ext cx="10058400" cy="457200"/>
          </a:xfrm>
          <a:prstGeom prst="rect">
            <a:avLst/>
          </a:prstGeom>
          <a:noFill/>
        </p:spPr>
        <p:txBody>
          <a:bodyPr wrap="square"/>
          <a:lstStyle/>
          <a:p>
            <a:pPr algn="ctr">
              <a:defRPr sz="1400" b="0">
                <a:solidFill>
                  <a:srgbClr val="888888"/>
                </a:solidFill>
                <a:latin typeface="Calibri"/>
              </a:defRPr>
            </a:pPr>
            <a:r>
              <a:t>A strategic decision session, not a status update.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365760"/>
            <a:ext cx="914400" cy="457200"/>
          </a:xfrm>
          <a:prstGeom prst="rect">
            <a:avLst/>
          </a:prstGeom>
          <a:noFill/>
        </p:spPr>
        <p:txBody>
          <a:bodyPr wrap="square"/>
          <a:lstStyle/>
          <a:p>
            <a:pPr algn="l">
              <a:defRPr sz="1800" b="1">
                <a:solidFill>
                  <a:srgbClr val="F2C23E"/>
                </a:solidFill>
                <a:latin typeface="Arial Black"/>
              </a:defRPr>
            </a:pPr>
            <a:r>
              <a:t>01</a:t>
            </a:r>
          </a:p>
        </p:txBody>
      </p:sp>
      <p:sp>
        <p:nvSpPr>
          <p:cNvPr id="3" name="TextBox 2"/>
          <p:cNvSpPr txBox="1"/>
          <p:nvPr/>
        </p:nvSpPr>
        <p:spPr>
          <a:xfrm>
            <a:off x="731520" y="731520"/>
            <a:ext cx="10058400" cy="731520"/>
          </a:xfrm>
          <a:prstGeom prst="rect">
            <a:avLst/>
          </a:prstGeom>
          <a:noFill/>
        </p:spPr>
        <p:txBody>
          <a:bodyPr wrap="square"/>
          <a:lstStyle/>
          <a:p>
            <a:pPr algn="l">
              <a:defRPr sz="4800" b="1">
                <a:solidFill>
                  <a:srgbClr val="F2C23E"/>
                </a:solidFill>
                <a:latin typeface="Arial Black"/>
              </a:defRPr>
            </a:pPr>
            <a:r>
              <a:t>PROJECT STRONG</a:t>
            </a:r>
          </a:p>
        </p:txBody>
      </p:sp>
      <p:sp>
        <p:nvSpPr>
          <p:cNvPr id="4" name="TextBox 3"/>
          <p:cNvSpPr txBox="1"/>
          <p:nvPr/>
        </p:nvSpPr>
        <p:spPr>
          <a:xfrm>
            <a:off x="731520" y="1554480"/>
            <a:ext cx="9144000" cy="548640"/>
          </a:xfrm>
          <a:prstGeom prst="rect">
            <a:avLst/>
          </a:prstGeom>
          <a:noFill/>
        </p:spPr>
        <p:txBody>
          <a:bodyPr wrap="square"/>
          <a:lstStyle/>
          <a:p>
            <a:pPr algn="l">
              <a:defRPr sz="1800" b="0">
                <a:solidFill>
                  <a:srgbClr val="FFFFFF"/>
                </a:solidFill>
                <a:latin typeface="Calibri"/>
              </a:defRPr>
            </a:pPr>
            <a:r>
              <a:t>The unified franchise model and operating system for Gold's Gym of the Future</a:t>
            </a:r>
          </a:p>
        </p:txBody>
      </p:sp>
      <p:sp>
        <p:nvSpPr>
          <p:cNvPr id="5" name="TextBox 4"/>
          <p:cNvSpPr txBox="1"/>
          <p:nvPr/>
        </p:nvSpPr>
        <p:spPr>
          <a:xfrm>
            <a:off x="731520" y="2377440"/>
            <a:ext cx="5029200" cy="3474720"/>
          </a:xfrm>
          <a:prstGeom prst="rect">
            <a:avLst/>
          </a:prstGeom>
          <a:noFill/>
        </p:spPr>
        <p:txBody>
          <a:bodyPr wrap="square"/>
          <a:lstStyle/>
          <a:p>
            <a:pPr algn="l">
              <a:spcBef>
                <a:spcPts val="800"/>
              </a:spcBef>
              <a:defRPr sz="1400" b="0">
                <a:solidFill>
                  <a:srgbClr val="FFFFFF"/>
                </a:solidFill>
                <a:latin typeface="Calibri"/>
              </a:defRPr>
            </a:pPr>
            <a:r>
              <a:t>The hub of human performance in sports,</a:t>
            </a:r>
            <a:br/>
            <a:r>
              <a:t>fitness and wellness</a:t>
            </a:r>
          </a:p>
          <a:p>
            <a:pPr>
              <a:spcBef>
                <a:spcPts val="800"/>
              </a:spcBef>
              <a:defRPr sz="1400">
                <a:solidFill>
                  <a:srgbClr val="FFFFFF"/>
                </a:solidFill>
                <a:latin typeface="Calibri"/>
              </a:defRPr>
            </a:pPr>
            <a:r>
              <a:t>Category leadership in Strength, Performance,</a:t>
            </a:r>
            <a:br/>
            <a:r>
              <a:t>and Aspirational Fitness Culture</a:t>
            </a:r>
          </a:p>
          <a:p>
            <a:pPr>
              <a:spcBef>
                <a:spcPts val="800"/>
              </a:spcBef>
              <a:defRPr sz="1400">
                <a:solidFill>
                  <a:srgbClr val="FFFFFF"/>
                </a:solidFill>
                <a:latin typeface="Calibri"/>
              </a:defRPr>
            </a:pPr>
            <a:r>
              <a:t>30,000 sq ft strength-forward flagship model</a:t>
            </a:r>
          </a:p>
          <a:p>
            <a:pPr>
              <a:spcBef>
                <a:spcPts val="800"/>
              </a:spcBef>
              <a:defRPr sz="1400">
                <a:solidFill>
                  <a:srgbClr val="FFFFFF"/>
                </a:solidFill>
                <a:latin typeface="Calibri"/>
              </a:defRPr>
            </a:pPr>
            <a:r>
              <a:t>NOT another HVLP gym</a:t>
            </a:r>
          </a:p>
          <a:p>
            <a:pPr>
              <a:spcBef>
                <a:spcPts val="800"/>
              </a:spcBef>
              <a:defRPr sz="1400">
                <a:solidFill>
                  <a:srgbClr val="FFFFFF"/>
                </a:solidFill>
                <a:latin typeface="Calibri"/>
              </a:defRPr>
            </a:pPr>
            <a:r>
              <a:t>Premium positioning: $49.95 - $69.95+</a:t>
            </a:r>
          </a:p>
          <a:p>
            <a:pPr>
              <a:spcBef>
                <a:spcPts val="800"/>
              </a:spcBef>
              <a:defRPr sz="1400">
                <a:solidFill>
                  <a:srgbClr val="FFFFFF"/>
                </a:solidFill>
                <a:latin typeface="Calibri"/>
              </a:defRPr>
            </a:pPr>
            <a:r>
              <a:t>Lean operations: GM + AGM model</a:t>
            </a:r>
          </a:p>
        </p:txBody>
      </p:sp>
      <p:sp>
        <p:nvSpPr>
          <p:cNvPr id="6" name="Rounded Rectangle 5"/>
          <p:cNvSpPr/>
          <p:nvPr/>
        </p:nvSpPr>
        <p:spPr>
          <a:xfrm>
            <a:off x="6400800" y="2377440"/>
            <a:ext cx="5029200" cy="1645920"/>
          </a:xfrm>
          <a:prstGeom prst="roundRect">
            <a:avLst/>
          </a:prstGeom>
          <a:solidFill>
            <a:srgbClr val="2D2D2D"/>
          </a:solidFill>
          <a:ln w="381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468880"/>
            <a:ext cx="4572000" cy="1463040"/>
          </a:xfrm>
          <a:prstGeom prst="rect">
            <a:avLst/>
          </a:prstGeom>
          <a:noFill/>
        </p:spPr>
        <p:txBody>
          <a:bodyPr wrap="square"/>
          <a:lstStyle/>
          <a:p>
            <a:pPr algn="l">
              <a:defRPr sz="1500" b="0">
                <a:solidFill>
                  <a:srgbClr val="FFF0B3"/>
                </a:solidFill>
                <a:latin typeface="Calibri"/>
              </a:defRPr>
            </a:pPr>
            <a:r>
              <a:t>"Your first time here is NOT your first</a:t>
            </a:r>
            <a:br/>
            <a:r>
              <a:t>time doing fitness. This is the place</a:t>
            </a:r>
            <a:br/>
            <a:r>
              <a:t>you graduate to. It is home to the athlete,</a:t>
            </a:r>
            <a:br/>
            <a:r>
              <a:t>the fitness enthusiast, and the hybrid</a:t>
            </a:r>
            <a:br/>
            <a:r>
              <a:t>training person."</a:t>
            </a:r>
          </a:p>
        </p:txBody>
      </p:sp>
      <p:sp>
        <p:nvSpPr>
          <p:cNvPr id="8" name="Rounded Rectangle 7"/>
          <p:cNvSpPr/>
          <p:nvPr/>
        </p:nvSpPr>
        <p:spPr>
          <a:xfrm>
            <a:off x="6400800" y="4206240"/>
            <a:ext cx="5029200" cy="1097280"/>
          </a:xfrm>
          <a:prstGeom prst="roundRect">
            <a:avLst/>
          </a:prstGeom>
          <a:solidFill>
            <a:srgbClr val="2D2D2D"/>
          </a:solidFill>
          <a:ln w="254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4297680"/>
            <a:ext cx="4572000" cy="914400"/>
          </a:xfrm>
          <a:prstGeom prst="rect">
            <a:avLst/>
          </a:prstGeom>
          <a:noFill/>
        </p:spPr>
        <p:txBody>
          <a:bodyPr wrap="square"/>
          <a:lstStyle/>
          <a:p>
            <a:pPr algn="l">
              <a:defRPr sz="1500" b="1">
                <a:solidFill>
                  <a:srgbClr val="FFF0B3"/>
                </a:solidFill>
                <a:latin typeface="Calibri"/>
              </a:defRPr>
            </a:pPr>
            <a:r>
              <a:t>"Not intimidating... it is home.</a:t>
            </a:r>
            <a:br/>
            <a:r>
              <a:t>Belonging to Gold's means something."</a:t>
            </a:r>
          </a:p>
        </p:txBody>
      </p:sp>
      <p:sp>
        <p:nvSpPr>
          <p:cNvPr id="10" name="TextBox 9"/>
          <p:cNvSpPr txBox="1"/>
          <p:nvPr/>
        </p:nvSpPr>
        <p:spPr>
          <a:xfrm>
            <a:off x="731520" y="5669280"/>
            <a:ext cx="10058400" cy="457200"/>
          </a:xfrm>
          <a:prstGeom prst="rect">
            <a:avLst/>
          </a:prstGeom>
          <a:noFill/>
        </p:spPr>
        <p:txBody>
          <a:bodyPr wrap="square"/>
          <a:lstStyle/>
          <a:p>
            <a:pPr algn="l">
              <a:defRPr sz="2000" b="1">
                <a:solidFill>
                  <a:srgbClr val="F2C23E"/>
                </a:solidFill>
                <a:latin typeface="Arial Black"/>
              </a:defRPr>
            </a:pPr>
            <a:r>
              <a:t>Gold's Gym is entering its next era.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02</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THE GOLD'S GYM OF THE FUTURE — CORE AMENITIES</a:t>
            </a:r>
          </a:p>
        </p:txBody>
      </p:sp>
      <p:sp>
        <p:nvSpPr>
          <p:cNvPr id="4" name="Rounded Rectangle 3"/>
          <p:cNvSpPr/>
          <p:nvPr/>
        </p:nvSpPr>
        <p:spPr>
          <a:xfrm>
            <a:off x="731520" y="137160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46320" cy="320040"/>
          </a:xfrm>
          <a:prstGeom prst="rect">
            <a:avLst/>
          </a:prstGeom>
          <a:noFill/>
        </p:spPr>
        <p:txBody>
          <a:bodyPr wrap="square"/>
          <a:lstStyle/>
          <a:p>
            <a:pPr algn="l">
              <a:defRPr sz="1300" b="1">
                <a:solidFill>
                  <a:srgbClr val="1A1A1A"/>
                </a:solidFill>
                <a:latin typeface="Arial Black"/>
              </a:defRPr>
            </a:pPr>
            <a:r>
              <a:t>MASSIVE FREE WEIGHT ZONES</a:t>
            </a:r>
          </a:p>
        </p:txBody>
      </p:sp>
      <p:sp>
        <p:nvSpPr>
          <p:cNvPr id="7" name="TextBox 6"/>
          <p:cNvSpPr txBox="1"/>
          <p:nvPr/>
        </p:nvSpPr>
        <p:spPr>
          <a:xfrm>
            <a:off x="914400" y="1828800"/>
            <a:ext cx="4846320" cy="594360"/>
          </a:xfrm>
          <a:prstGeom prst="rect">
            <a:avLst/>
          </a:prstGeom>
          <a:noFill/>
        </p:spPr>
        <p:txBody>
          <a:bodyPr wrap="square"/>
          <a:lstStyle/>
          <a:p>
            <a:pPr algn="l">
              <a:defRPr sz="1100" b="0">
                <a:solidFill>
                  <a:srgbClr val="555555"/>
                </a:solidFill>
                <a:latin typeface="Calibri"/>
              </a:defRPr>
            </a:pPr>
            <a:r>
              <a:t>Expanded dumbbells, Olympic platforms,</a:t>
            </a:r>
            <a:br/>
            <a:r>
              <a:t>specialty bars, strength machines</a:t>
            </a:r>
          </a:p>
        </p:txBody>
      </p:sp>
      <p:sp>
        <p:nvSpPr>
          <p:cNvPr id="8" name="Rounded Rectangle 7"/>
          <p:cNvSpPr/>
          <p:nvPr/>
        </p:nvSpPr>
        <p:spPr>
          <a:xfrm>
            <a:off x="6309359" y="137160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59" y="137160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39" y="1463040"/>
            <a:ext cx="4846320" cy="320040"/>
          </a:xfrm>
          <a:prstGeom prst="rect">
            <a:avLst/>
          </a:prstGeom>
          <a:noFill/>
        </p:spPr>
        <p:txBody>
          <a:bodyPr wrap="square"/>
          <a:lstStyle/>
          <a:p>
            <a:pPr algn="l">
              <a:defRPr sz="1300" b="1">
                <a:solidFill>
                  <a:srgbClr val="1A1A1A"/>
                </a:solidFill>
                <a:latin typeface="Arial Black"/>
              </a:defRPr>
            </a:pPr>
            <a:r>
              <a:t>PERFORMANCE TURF &amp; FUNCTIONAL</a:t>
            </a:r>
          </a:p>
        </p:txBody>
      </p:sp>
      <p:sp>
        <p:nvSpPr>
          <p:cNvPr id="11" name="TextBox 10"/>
          <p:cNvSpPr txBox="1"/>
          <p:nvPr/>
        </p:nvSpPr>
        <p:spPr>
          <a:xfrm>
            <a:off x="6492239" y="1828800"/>
            <a:ext cx="4846320" cy="594360"/>
          </a:xfrm>
          <a:prstGeom prst="rect">
            <a:avLst/>
          </a:prstGeom>
          <a:noFill/>
        </p:spPr>
        <p:txBody>
          <a:bodyPr wrap="square"/>
          <a:lstStyle/>
          <a:p>
            <a:pPr algn="l">
              <a:defRPr sz="1100" b="0">
                <a:solidFill>
                  <a:srgbClr val="555555"/>
                </a:solidFill>
                <a:latin typeface="Calibri"/>
              </a:defRPr>
            </a:pPr>
            <a:r>
              <a:t>HYROX-style training, conditioning,</a:t>
            </a:r>
            <a:br/>
            <a:r>
              <a:t>athletic development</a:t>
            </a:r>
          </a:p>
        </p:txBody>
      </p:sp>
      <p:sp>
        <p:nvSpPr>
          <p:cNvPr id="12" name="Rounded Rectangle 11"/>
          <p:cNvSpPr/>
          <p:nvPr/>
        </p:nvSpPr>
        <p:spPr>
          <a:xfrm>
            <a:off x="731520" y="260604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60604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697480"/>
            <a:ext cx="4846320" cy="320040"/>
          </a:xfrm>
          <a:prstGeom prst="rect">
            <a:avLst/>
          </a:prstGeom>
          <a:noFill/>
        </p:spPr>
        <p:txBody>
          <a:bodyPr wrap="square"/>
          <a:lstStyle/>
          <a:p>
            <a:pPr algn="l">
              <a:defRPr sz="1300" b="1">
                <a:solidFill>
                  <a:srgbClr val="1A1A1A"/>
                </a:solidFill>
                <a:latin typeface="Arial Black"/>
              </a:defRPr>
            </a:pPr>
            <a:r>
              <a:t>SMALL GROUP PERFORMANCE STUDIO</a:t>
            </a:r>
          </a:p>
        </p:txBody>
      </p:sp>
      <p:sp>
        <p:nvSpPr>
          <p:cNvPr id="15" name="TextBox 14"/>
          <p:cNvSpPr txBox="1"/>
          <p:nvPr/>
        </p:nvSpPr>
        <p:spPr>
          <a:xfrm>
            <a:off x="914400" y="3063240"/>
            <a:ext cx="4846320" cy="594360"/>
          </a:xfrm>
          <a:prstGeom prst="rect">
            <a:avLst/>
          </a:prstGeom>
          <a:noFill/>
        </p:spPr>
        <p:txBody>
          <a:bodyPr wrap="square"/>
          <a:lstStyle/>
          <a:p>
            <a:pPr algn="l">
              <a:defRPr sz="1100" b="0">
                <a:solidFill>
                  <a:srgbClr val="555555"/>
                </a:solidFill>
                <a:latin typeface="Calibri"/>
              </a:defRPr>
            </a:pPr>
            <a:r>
              <a:t>Strength &amp; conditioning classes,</a:t>
            </a:r>
            <a:br/>
            <a:r>
              <a:t>athlete-inspired group training</a:t>
            </a:r>
          </a:p>
        </p:txBody>
      </p:sp>
      <p:sp>
        <p:nvSpPr>
          <p:cNvPr id="16" name="Rounded Rectangle 15"/>
          <p:cNvSpPr/>
          <p:nvPr/>
        </p:nvSpPr>
        <p:spPr>
          <a:xfrm>
            <a:off x="6309359" y="260604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59" y="260604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39" y="2697480"/>
            <a:ext cx="4846320" cy="320040"/>
          </a:xfrm>
          <a:prstGeom prst="rect">
            <a:avLst/>
          </a:prstGeom>
          <a:noFill/>
        </p:spPr>
        <p:txBody>
          <a:bodyPr wrap="square"/>
          <a:lstStyle/>
          <a:p>
            <a:pPr algn="l">
              <a:defRPr sz="1300" b="1">
                <a:solidFill>
                  <a:srgbClr val="1A1A1A"/>
                </a:solidFill>
                <a:latin typeface="Arial Black"/>
              </a:defRPr>
            </a:pPr>
            <a:r>
              <a:t>GOLD'S GYM POSING ROOM</a:t>
            </a:r>
          </a:p>
        </p:txBody>
      </p:sp>
      <p:sp>
        <p:nvSpPr>
          <p:cNvPr id="19" name="TextBox 18"/>
          <p:cNvSpPr txBox="1"/>
          <p:nvPr/>
        </p:nvSpPr>
        <p:spPr>
          <a:xfrm>
            <a:off x="6492239" y="3063240"/>
            <a:ext cx="4846320" cy="594360"/>
          </a:xfrm>
          <a:prstGeom prst="rect">
            <a:avLst/>
          </a:prstGeom>
          <a:noFill/>
        </p:spPr>
        <p:txBody>
          <a:bodyPr wrap="square"/>
          <a:lstStyle/>
          <a:p>
            <a:pPr algn="l">
              <a:defRPr sz="1100" b="0">
                <a:solidFill>
                  <a:srgbClr val="555555"/>
                </a:solidFill>
                <a:latin typeface="Calibri"/>
              </a:defRPr>
            </a:pPr>
            <a:r>
              <a:t>Heritage amenity for bodybuilders,</a:t>
            </a:r>
            <a:br/>
            <a:r>
              <a:t>physique athletes, creators</a:t>
            </a:r>
          </a:p>
        </p:txBody>
      </p:sp>
      <p:sp>
        <p:nvSpPr>
          <p:cNvPr id="20" name="Rounded Rectangle 19"/>
          <p:cNvSpPr/>
          <p:nvPr/>
        </p:nvSpPr>
        <p:spPr>
          <a:xfrm>
            <a:off x="731520" y="384048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4048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931920"/>
            <a:ext cx="4846320" cy="320040"/>
          </a:xfrm>
          <a:prstGeom prst="rect">
            <a:avLst/>
          </a:prstGeom>
          <a:noFill/>
        </p:spPr>
        <p:txBody>
          <a:bodyPr wrap="square"/>
          <a:lstStyle/>
          <a:p>
            <a:pPr algn="l">
              <a:defRPr sz="1300" b="1">
                <a:solidFill>
                  <a:srgbClr val="1A1A1A"/>
                </a:solidFill>
                <a:latin typeface="Arial Black"/>
              </a:defRPr>
            </a:pPr>
            <a:r>
              <a:t>CONTENT-ENABLED SPACES</a:t>
            </a:r>
          </a:p>
        </p:txBody>
      </p:sp>
      <p:sp>
        <p:nvSpPr>
          <p:cNvPr id="23" name="TextBox 22"/>
          <p:cNvSpPr txBox="1"/>
          <p:nvPr/>
        </p:nvSpPr>
        <p:spPr>
          <a:xfrm>
            <a:off x="914400" y="4297680"/>
            <a:ext cx="4846320" cy="594360"/>
          </a:xfrm>
          <a:prstGeom prst="rect">
            <a:avLst/>
          </a:prstGeom>
          <a:noFill/>
        </p:spPr>
        <p:txBody>
          <a:bodyPr wrap="square"/>
          <a:lstStyle/>
          <a:p>
            <a:pPr algn="l">
              <a:defRPr sz="1100" b="0">
                <a:solidFill>
                  <a:srgbClr val="555555"/>
                </a:solidFill>
                <a:latin typeface="Calibri"/>
              </a:defRPr>
            </a:pPr>
            <a:r>
              <a:t>Creator-friendly zones, social engagement</a:t>
            </a:r>
            <a:br/>
            <a:r>
              <a:t>(15% or less of floor space)</a:t>
            </a:r>
          </a:p>
        </p:txBody>
      </p:sp>
      <p:sp>
        <p:nvSpPr>
          <p:cNvPr id="24" name="Rounded Rectangle 23"/>
          <p:cNvSpPr/>
          <p:nvPr/>
        </p:nvSpPr>
        <p:spPr>
          <a:xfrm>
            <a:off x="6309359" y="384048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59" y="384048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39" y="3931920"/>
            <a:ext cx="4846320" cy="320040"/>
          </a:xfrm>
          <a:prstGeom prst="rect">
            <a:avLst/>
          </a:prstGeom>
          <a:noFill/>
        </p:spPr>
        <p:txBody>
          <a:bodyPr wrap="square"/>
          <a:lstStyle/>
          <a:p>
            <a:pPr algn="l">
              <a:defRPr sz="1300" b="1">
                <a:solidFill>
                  <a:srgbClr val="1A1A1A"/>
                </a:solidFill>
                <a:latin typeface="Arial Black"/>
              </a:defRPr>
            </a:pPr>
            <a:r>
              <a:t>RECOVERY &amp; BIOHACKING SUITE</a:t>
            </a:r>
          </a:p>
        </p:txBody>
      </p:sp>
      <p:sp>
        <p:nvSpPr>
          <p:cNvPr id="27" name="TextBox 26"/>
          <p:cNvSpPr txBox="1"/>
          <p:nvPr/>
        </p:nvSpPr>
        <p:spPr>
          <a:xfrm>
            <a:off x="6492239" y="4297680"/>
            <a:ext cx="4846320" cy="594360"/>
          </a:xfrm>
          <a:prstGeom prst="rect">
            <a:avLst/>
          </a:prstGeom>
          <a:noFill/>
        </p:spPr>
        <p:txBody>
          <a:bodyPr wrap="square"/>
          <a:lstStyle/>
          <a:p>
            <a:pPr algn="l">
              <a:defRPr sz="1100" b="0">
                <a:solidFill>
                  <a:srgbClr val="555555"/>
                </a:solidFill>
                <a:latin typeface="Calibri"/>
              </a:defRPr>
            </a:pPr>
            <a:r>
              <a:t>Cold plunge, infrared sauna, red light,</a:t>
            </a:r>
            <a:br/>
            <a:r>
              <a:t>compression — off days become on days</a:t>
            </a:r>
          </a:p>
        </p:txBody>
      </p:sp>
      <p:sp>
        <p:nvSpPr>
          <p:cNvPr id="28" name="Rounded Rectangle 27"/>
          <p:cNvSpPr/>
          <p:nvPr/>
        </p:nvSpPr>
        <p:spPr>
          <a:xfrm>
            <a:off x="731520" y="507492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07492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166360"/>
            <a:ext cx="4846320" cy="320040"/>
          </a:xfrm>
          <a:prstGeom prst="rect">
            <a:avLst/>
          </a:prstGeom>
          <a:noFill/>
        </p:spPr>
        <p:txBody>
          <a:bodyPr wrap="square"/>
          <a:lstStyle/>
          <a:p>
            <a:pPr algn="l">
              <a:defRPr sz="1300" b="1">
                <a:solidFill>
                  <a:srgbClr val="1A1A1A"/>
                </a:solidFill>
                <a:latin typeface="Arial Black"/>
              </a:defRPr>
            </a:pPr>
            <a:r>
              <a:t>PRECISION HEALTH &amp; NUTRITION</a:t>
            </a:r>
          </a:p>
        </p:txBody>
      </p:sp>
      <p:sp>
        <p:nvSpPr>
          <p:cNvPr id="31" name="TextBox 30"/>
          <p:cNvSpPr txBox="1"/>
          <p:nvPr/>
        </p:nvSpPr>
        <p:spPr>
          <a:xfrm>
            <a:off x="914400" y="5532120"/>
            <a:ext cx="4846320" cy="594360"/>
          </a:xfrm>
          <a:prstGeom prst="rect">
            <a:avLst/>
          </a:prstGeom>
          <a:noFill/>
        </p:spPr>
        <p:txBody>
          <a:bodyPr wrap="square"/>
          <a:lstStyle/>
          <a:p>
            <a:pPr algn="l">
              <a:defRPr sz="1100" b="0">
                <a:solidFill>
                  <a:srgbClr val="555555"/>
                </a:solidFill>
                <a:latin typeface="Calibri"/>
              </a:defRPr>
            </a:pPr>
            <a:r>
              <a:t>Supplements, peptides, blood testing,</a:t>
            </a:r>
            <a:br/>
            <a:r>
              <a:t>onsite nutrition, Gold's retail</a:t>
            </a:r>
          </a:p>
        </p:txBody>
      </p:sp>
      <p:sp>
        <p:nvSpPr>
          <p:cNvPr id="32" name="Rounded Rectangle 31"/>
          <p:cNvSpPr/>
          <p:nvPr/>
        </p:nvSpPr>
        <p:spPr>
          <a:xfrm>
            <a:off x="6309359" y="5074920"/>
            <a:ext cx="5303520" cy="1097280"/>
          </a:xfrm>
          <a:prstGeom prst="roundRect">
            <a:avLst/>
          </a:prstGeom>
          <a:solidFill>
            <a:srgbClr val="FFFFFF"/>
          </a:solidFill>
          <a:ln w="127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59" y="5074920"/>
            <a:ext cx="63500" cy="109728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39" y="5166360"/>
            <a:ext cx="4846320" cy="320040"/>
          </a:xfrm>
          <a:prstGeom prst="rect">
            <a:avLst/>
          </a:prstGeom>
          <a:noFill/>
        </p:spPr>
        <p:txBody>
          <a:bodyPr wrap="square"/>
          <a:lstStyle/>
          <a:p>
            <a:pPr algn="l">
              <a:defRPr sz="1300" b="1">
                <a:solidFill>
                  <a:srgbClr val="1A1A1A"/>
                </a:solidFill>
                <a:latin typeface="Arial Black"/>
              </a:defRPr>
            </a:pPr>
            <a:r>
              <a:t>DIGITAL TRAINING</a:t>
            </a:r>
          </a:p>
        </p:txBody>
      </p:sp>
      <p:sp>
        <p:nvSpPr>
          <p:cNvPr id="35" name="TextBox 34"/>
          <p:cNvSpPr txBox="1"/>
          <p:nvPr/>
        </p:nvSpPr>
        <p:spPr>
          <a:xfrm>
            <a:off x="6492239" y="5532120"/>
            <a:ext cx="4846320" cy="594360"/>
          </a:xfrm>
          <a:prstGeom prst="rect">
            <a:avLst/>
          </a:prstGeom>
          <a:noFill/>
        </p:spPr>
        <p:txBody>
          <a:bodyPr wrap="square"/>
          <a:lstStyle/>
          <a:p>
            <a:pPr algn="l">
              <a:defRPr sz="1100" b="0">
                <a:solidFill>
                  <a:srgbClr val="555555"/>
                </a:solidFill>
                <a:latin typeface="Calibri"/>
              </a:defRPr>
            </a:pPr>
            <a:r>
              <a:t>App-delivered workouts, AI coaching,</a:t>
            </a:r>
            <a:br/>
            <a:r>
              <a:t>performance tracking — 90% to 91%</a:t>
            </a:r>
          </a:p>
        </p:txBody>
      </p:sp>
      <p:sp>
        <p:nvSpPr>
          <p:cNvPr id="36" name="Rounded Rectangle 35"/>
          <p:cNvSpPr/>
          <p:nvPr/>
        </p:nvSpPr>
        <p:spPr>
          <a:xfrm>
            <a:off x="731520" y="6126480"/>
            <a:ext cx="10698480" cy="548640"/>
          </a:xfrm>
          <a:prstGeom prst="roundRect">
            <a:avLst/>
          </a:prstGeom>
          <a:solidFill>
            <a:srgbClr val="1A1A1A"/>
          </a:solidFill>
          <a:ln w="254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6172200"/>
            <a:ext cx="3200400" cy="365760"/>
          </a:xfrm>
          <a:prstGeom prst="rect">
            <a:avLst/>
          </a:prstGeom>
          <a:noFill/>
        </p:spPr>
        <p:txBody>
          <a:bodyPr wrap="square"/>
          <a:lstStyle/>
          <a:p>
            <a:pPr algn="ctr">
              <a:defRPr sz="1400" b="1">
                <a:solidFill>
                  <a:srgbClr val="FFFFFF"/>
                </a:solidFill>
                <a:latin typeface="Arial Black"/>
              </a:defRPr>
            </a:pPr>
            <a:r>
              <a:t>BASIC  |  $49.95+</a:t>
            </a:r>
          </a:p>
        </p:txBody>
      </p:sp>
      <p:sp>
        <p:nvSpPr>
          <p:cNvPr id="38" name="TextBox 37"/>
          <p:cNvSpPr txBox="1"/>
          <p:nvPr/>
        </p:nvSpPr>
        <p:spPr>
          <a:xfrm>
            <a:off x="4389120" y="6172200"/>
            <a:ext cx="3657600" cy="365760"/>
          </a:xfrm>
          <a:prstGeom prst="rect">
            <a:avLst/>
          </a:prstGeom>
          <a:noFill/>
        </p:spPr>
        <p:txBody>
          <a:bodyPr wrap="square"/>
          <a:lstStyle/>
          <a:p>
            <a:pPr algn="ctr">
              <a:defRPr sz="1400" b="1">
                <a:solidFill>
                  <a:srgbClr val="F2C23E"/>
                </a:solidFill>
                <a:latin typeface="Arial Black"/>
              </a:defRPr>
            </a:pPr>
            <a:r>
              <a:t>PERFORMANCE+  |  $69.95+</a:t>
            </a:r>
          </a:p>
        </p:txBody>
      </p:sp>
      <p:sp>
        <p:nvSpPr>
          <p:cNvPr id="39" name="TextBox 38"/>
          <p:cNvSpPr txBox="1"/>
          <p:nvPr/>
        </p:nvSpPr>
        <p:spPr>
          <a:xfrm>
            <a:off x="8412480" y="6172200"/>
            <a:ext cx="2743200" cy="365760"/>
          </a:xfrm>
          <a:prstGeom prst="rect">
            <a:avLst/>
          </a:prstGeom>
          <a:noFill/>
        </p:spPr>
        <p:txBody>
          <a:bodyPr wrap="square"/>
          <a:lstStyle/>
          <a:p>
            <a:pPr algn="ctr">
              <a:defRPr sz="1400" b="1">
                <a:solidFill>
                  <a:srgbClr val="555555"/>
                </a:solidFill>
                <a:latin typeface="Arial Black"/>
              </a:defRPr>
            </a:pPr>
            <a:r>
              <a:t>LOCAL ADD-ONS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03</a:t>
            </a:r>
          </a:p>
        </p:txBody>
      </p:sp>
      <p:sp>
        <p:nvSpPr>
          <p:cNvPr id="3" name="TextBox 2"/>
          <p:cNvSpPr txBox="1"/>
          <p:nvPr/>
        </p:nvSpPr>
        <p:spPr>
          <a:xfrm>
            <a:off x="731520" y="548640"/>
            <a:ext cx="10058400" cy="640080"/>
          </a:xfrm>
          <a:prstGeom prst="rect">
            <a:avLst/>
          </a:prstGeom>
          <a:noFill/>
        </p:spPr>
        <p:txBody>
          <a:bodyPr wrap="square"/>
          <a:lstStyle/>
          <a:p>
            <a:pPr algn="l">
              <a:defRPr sz="4000" b="1">
                <a:solidFill>
                  <a:srgbClr val="C62828"/>
                </a:solidFill>
                <a:latin typeface="Arial Black"/>
              </a:defRPr>
            </a:pPr>
            <a:r>
              <a:t>THE PROBLEM</a:t>
            </a:r>
          </a:p>
        </p:txBody>
      </p:sp>
      <p:sp>
        <p:nvSpPr>
          <p:cNvPr id="4" name="TextBox 3"/>
          <p:cNvSpPr txBox="1"/>
          <p:nvPr/>
        </p:nvSpPr>
        <p:spPr>
          <a:xfrm>
            <a:off x="731520" y="1097280"/>
            <a:ext cx="10058400" cy="457200"/>
          </a:xfrm>
          <a:prstGeom prst="rect">
            <a:avLst/>
          </a:prstGeom>
          <a:noFill/>
        </p:spPr>
        <p:txBody>
          <a:bodyPr wrap="square"/>
          <a:lstStyle/>
          <a:p>
            <a:pPr algn="l">
              <a:defRPr sz="1800" b="0">
                <a:solidFill>
                  <a:srgbClr val="555555"/>
                </a:solidFill>
                <a:latin typeface="Calibri"/>
              </a:defRPr>
            </a:pPr>
            <a:r>
              <a:t>Tech Stack =/= Growth &amp; Scale  |  Clubs Operating as Local Business Owners</a:t>
            </a:r>
          </a:p>
        </p:txBody>
      </p:sp>
      <p:sp>
        <p:nvSpPr>
          <p:cNvPr id="5" name="Oval 4"/>
          <p:cNvSpPr/>
          <p:nvPr/>
        </p:nvSpPr>
        <p:spPr>
          <a:xfrm>
            <a:off x="731520" y="1874520"/>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320040" cy="320040"/>
          </a:xfrm>
          <a:prstGeom prst="rect">
            <a:avLst/>
          </a:prstGeom>
          <a:noFill/>
        </p:spPr>
        <p:txBody>
          <a:bodyPr wrap="square"/>
          <a:lstStyle/>
          <a:p>
            <a:pPr algn="ctr">
              <a:defRPr sz="1200" b="1">
                <a:solidFill>
                  <a:srgbClr val="1A1A1A"/>
                </a:solidFill>
                <a:latin typeface="Arial Black"/>
              </a:defRPr>
            </a:pPr>
            <a:r>
              <a:t>1</a:t>
            </a:r>
          </a:p>
        </p:txBody>
      </p:sp>
      <p:sp>
        <p:nvSpPr>
          <p:cNvPr id="7" name="TextBox 6"/>
          <p:cNvSpPr txBox="1"/>
          <p:nvPr/>
        </p:nvSpPr>
        <p:spPr>
          <a:xfrm>
            <a:off x="1280160" y="1828800"/>
            <a:ext cx="3200400" cy="320040"/>
          </a:xfrm>
          <a:prstGeom prst="rect">
            <a:avLst/>
          </a:prstGeom>
          <a:noFill/>
        </p:spPr>
        <p:txBody>
          <a:bodyPr wrap="square"/>
          <a:lstStyle/>
          <a:p>
            <a:pPr algn="l">
              <a:defRPr sz="1400" b="1">
                <a:solidFill>
                  <a:srgbClr val="FFFFFF"/>
                </a:solidFill>
                <a:latin typeface="Arial Black"/>
              </a:defRPr>
            </a:pPr>
            <a:r>
              <a:t>FRAGMENTED</a:t>
            </a:r>
          </a:p>
        </p:txBody>
      </p:sp>
      <p:sp>
        <p:nvSpPr>
          <p:cNvPr id="8" name="TextBox 7"/>
          <p:cNvSpPr txBox="1"/>
          <p:nvPr/>
        </p:nvSpPr>
        <p:spPr>
          <a:xfrm>
            <a:off x="4572000" y="1847088"/>
            <a:ext cx="6858000" cy="320040"/>
          </a:xfrm>
          <a:prstGeom prst="rect">
            <a:avLst/>
          </a:prstGeom>
          <a:noFill/>
        </p:spPr>
        <p:txBody>
          <a:bodyPr wrap="square"/>
          <a:lstStyle/>
          <a:p>
            <a:pPr algn="l">
              <a:defRPr sz="1300" b="0">
                <a:solidFill>
                  <a:srgbClr val="BBBBBB"/>
                </a:solidFill>
                <a:latin typeface="Calibri"/>
              </a:defRPr>
            </a:pPr>
            <a:r>
              <a:t>6-7 core vendors, ~20 apps across the ecosystem</a:t>
            </a:r>
          </a:p>
        </p:txBody>
      </p:sp>
      <p:sp>
        <p:nvSpPr>
          <p:cNvPr id="9" name="Oval 8"/>
          <p:cNvSpPr/>
          <p:nvPr/>
        </p:nvSpPr>
        <p:spPr>
          <a:xfrm>
            <a:off x="731520" y="2532888"/>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32888"/>
            <a:ext cx="320040" cy="320040"/>
          </a:xfrm>
          <a:prstGeom prst="rect">
            <a:avLst/>
          </a:prstGeom>
          <a:noFill/>
        </p:spPr>
        <p:txBody>
          <a:bodyPr wrap="square"/>
          <a:lstStyle/>
          <a:p>
            <a:pPr algn="ctr">
              <a:defRPr sz="1200" b="1">
                <a:solidFill>
                  <a:srgbClr val="1A1A1A"/>
                </a:solidFill>
                <a:latin typeface="Arial Black"/>
              </a:defRPr>
            </a:pPr>
            <a:r>
              <a:t>2</a:t>
            </a:r>
          </a:p>
        </p:txBody>
      </p:sp>
      <p:sp>
        <p:nvSpPr>
          <p:cNvPr id="11" name="TextBox 10"/>
          <p:cNvSpPr txBox="1"/>
          <p:nvPr/>
        </p:nvSpPr>
        <p:spPr>
          <a:xfrm>
            <a:off x="1280160" y="2487168"/>
            <a:ext cx="3200400" cy="320040"/>
          </a:xfrm>
          <a:prstGeom prst="rect">
            <a:avLst/>
          </a:prstGeom>
          <a:noFill/>
        </p:spPr>
        <p:txBody>
          <a:bodyPr wrap="square"/>
          <a:lstStyle/>
          <a:p>
            <a:pPr algn="l">
              <a:defRPr sz="1400" b="1">
                <a:solidFill>
                  <a:srgbClr val="FFFFFF"/>
                </a:solidFill>
                <a:latin typeface="Arial Black"/>
              </a:defRPr>
            </a:pPr>
            <a:r>
              <a:t>MEMBER MANAGEMENT FOCUSED</a:t>
            </a:r>
          </a:p>
        </p:txBody>
      </p:sp>
      <p:sp>
        <p:nvSpPr>
          <p:cNvPr id="12" name="TextBox 11"/>
          <p:cNvSpPr txBox="1"/>
          <p:nvPr/>
        </p:nvSpPr>
        <p:spPr>
          <a:xfrm>
            <a:off x="4572000" y="2505456"/>
            <a:ext cx="6858000" cy="320040"/>
          </a:xfrm>
          <a:prstGeom prst="rect">
            <a:avLst/>
          </a:prstGeom>
          <a:noFill/>
        </p:spPr>
        <p:txBody>
          <a:bodyPr wrap="square"/>
          <a:lstStyle/>
          <a:p>
            <a:pPr algn="l">
              <a:defRPr sz="1300" b="0">
                <a:solidFill>
                  <a:srgbClr val="BBBBBB"/>
                </a:solidFill>
                <a:latin typeface="Calibri"/>
              </a:defRPr>
            </a:pPr>
            <a:r>
              <a:t>The hub exists, but it's limited to basic operations</a:t>
            </a:r>
          </a:p>
        </p:txBody>
      </p:sp>
      <p:sp>
        <p:nvSpPr>
          <p:cNvPr id="13" name="Oval 12"/>
          <p:cNvSpPr/>
          <p:nvPr/>
        </p:nvSpPr>
        <p:spPr>
          <a:xfrm>
            <a:off x="731520" y="3191256"/>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91256"/>
            <a:ext cx="320040" cy="320040"/>
          </a:xfrm>
          <a:prstGeom prst="rect">
            <a:avLst/>
          </a:prstGeom>
          <a:noFill/>
        </p:spPr>
        <p:txBody>
          <a:bodyPr wrap="square"/>
          <a:lstStyle/>
          <a:p>
            <a:pPr algn="ctr">
              <a:defRPr sz="1200" b="1">
                <a:solidFill>
                  <a:srgbClr val="1A1A1A"/>
                </a:solidFill>
                <a:latin typeface="Arial Black"/>
              </a:defRPr>
            </a:pPr>
            <a:r>
              <a:t>3</a:t>
            </a:r>
          </a:p>
        </p:txBody>
      </p:sp>
      <p:sp>
        <p:nvSpPr>
          <p:cNvPr id="15" name="TextBox 14"/>
          <p:cNvSpPr txBox="1"/>
          <p:nvPr/>
        </p:nvSpPr>
        <p:spPr>
          <a:xfrm>
            <a:off x="1280160" y="3145536"/>
            <a:ext cx="3200400" cy="320040"/>
          </a:xfrm>
          <a:prstGeom prst="rect">
            <a:avLst/>
          </a:prstGeom>
          <a:noFill/>
        </p:spPr>
        <p:txBody>
          <a:bodyPr wrap="square"/>
          <a:lstStyle/>
          <a:p>
            <a:pPr algn="l">
              <a:defRPr sz="1400" b="1">
                <a:solidFill>
                  <a:srgbClr val="FFFFFF"/>
                </a:solidFill>
                <a:latin typeface="Arial Black"/>
              </a:defRPr>
            </a:pPr>
            <a:r>
              <a:t>NO CONTROL OF MEMBER EXPERIENCE</a:t>
            </a:r>
          </a:p>
        </p:txBody>
      </p:sp>
      <p:sp>
        <p:nvSpPr>
          <p:cNvPr id="16" name="TextBox 15"/>
          <p:cNvSpPr txBox="1"/>
          <p:nvPr/>
        </p:nvSpPr>
        <p:spPr>
          <a:xfrm>
            <a:off x="4572000" y="3163824"/>
            <a:ext cx="6858000" cy="320040"/>
          </a:xfrm>
          <a:prstGeom prst="rect">
            <a:avLst/>
          </a:prstGeom>
          <a:noFill/>
        </p:spPr>
        <p:txBody>
          <a:bodyPr wrap="square"/>
          <a:lstStyle/>
          <a:p>
            <a:pPr algn="l">
              <a:defRPr sz="1300" b="0">
                <a:solidFill>
                  <a:srgbClr val="BBBBBB"/>
                </a:solidFill>
                <a:latin typeface="Calibri"/>
              </a:defRPr>
            </a:pPr>
            <a:r>
              <a:t>Tech providers are driving strategy, not Gold's</a:t>
            </a:r>
          </a:p>
        </p:txBody>
      </p:sp>
      <p:sp>
        <p:nvSpPr>
          <p:cNvPr id="17" name="Oval 16"/>
          <p:cNvSpPr/>
          <p:nvPr/>
        </p:nvSpPr>
        <p:spPr>
          <a:xfrm>
            <a:off x="731520" y="3849624"/>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9624"/>
            <a:ext cx="320040" cy="320040"/>
          </a:xfrm>
          <a:prstGeom prst="rect">
            <a:avLst/>
          </a:prstGeom>
          <a:noFill/>
        </p:spPr>
        <p:txBody>
          <a:bodyPr wrap="square"/>
          <a:lstStyle/>
          <a:p>
            <a:pPr algn="ctr">
              <a:defRPr sz="1200" b="1">
                <a:solidFill>
                  <a:srgbClr val="1A1A1A"/>
                </a:solidFill>
                <a:latin typeface="Arial Black"/>
              </a:defRPr>
            </a:pPr>
            <a:r>
              <a:t>4</a:t>
            </a:r>
          </a:p>
        </p:txBody>
      </p:sp>
      <p:sp>
        <p:nvSpPr>
          <p:cNvPr id="19" name="TextBox 18"/>
          <p:cNvSpPr txBox="1"/>
          <p:nvPr/>
        </p:nvSpPr>
        <p:spPr>
          <a:xfrm>
            <a:off x="1280160" y="3803904"/>
            <a:ext cx="3200400" cy="320040"/>
          </a:xfrm>
          <a:prstGeom prst="rect">
            <a:avLst/>
          </a:prstGeom>
          <a:noFill/>
        </p:spPr>
        <p:txBody>
          <a:bodyPr wrap="square"/>
          <a:lstStyle/>
          <a:p>
            <a:pPr algn="l">
              <a:defRPr sz="1400" b="1">
                <a:solidFill>
                  <a:srgbClr val="FFFFFF"/>
                </a:solidFill>
                <a:latin typeface="Arial Black"/>
              </a:defRPr>
            </a:pPr>
            <a:r>
              <a:t>INCONSISTENT WEBSITES</a:t>
            </a:r>
          </a:p>
        </p:txBody>
      </p:sp>
      <p:sp>
        <p:nvSpPr>
          <p:cNvPr id="20" name="TextBox 19"/>
          <p:cNvSpPr txBox="1"/>
          <p:nvPr/>
        </p:nvSpPr>
        <p:spPr>
          <a:xfrm>
            <a:off x="4572000" y="3822192"/>
            <a:ext cx="6858000" cy="320040"/>
          </a:xfrm>
          <a:prstGeom prst="rect">
            <a:avLst/>
          </a:prstGeom>
          <a:noFill/>
        </p:spPr>
        <p:txBody>
          <a:bodyPr wrap="square"/>
          <a:lstStyle/>
          <a:p>
            <a:pPr algn="l">
              <a:defRPr sz="1300" b="0">
                <a:solidFill>
                  <a:srgbClr val="BBBBBB"/>
                </a:solidFill>
                <a:latin typeface="Calibri"/>
              </a:defRPr>
            </a:pPr>
            <a:r>
              <a:t>All franchisees on different websites — no brand consistency</a:t>
            </a:r>
          </a:p>
        </p:txBody>
      </p:sp>
      <p:sp>
        <p:nvSpPr>
          <p:cNvPr id="21" name="Oval 20"/>
          <p:cNvSpPr/>
          <p:nvPr/>
        </p:nvSpPr>
        <p:spPr>
          <a:xfrm>
            <a:off x="731520" y="4507992"/>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507992"/>
            <a:ext cx="320040" cy="320040"/>
          </a:xfrm>
          <a:prstGeom prst="rect">
            <a:avLst/>
          </a:prstGeom>
          <a:noFill/>
        </p:spPr>
        <p:txBody>
          <a:bodyPr wrap="square"/>
          <a:lstStyle/>
          <a:p>
            <a:pPr algn="ctr">
              <a:defRPr sz="1200" b="1">
                <a:solidFill>
                  <a:srgbClr val="1A1A1A"/>
                </a:solidFill>
                <a:latin typeface="Arial Black"/>
              </a:defRPr>
            </a:pPr>
            <a:r>
              <a:t>5</a:t>
            </a:r>
          </a:p>
        </p:txBody>
      </p:sp>
      <p:sp>
        <p:nvSpPr>
          <p:cNvPr id="23" name="TextBox 22"/>
          <p:cNvSpPr txBox="1"/>
          <p:nvPr/>
        </p:nvSpPr>
        <p:spPr>
          <a:xfrm>
            <a:off x="1280160" y="4462272"/>
            <a:ext cx="3200400" cy="320040"/>
          </a:xfrm>
          <a:prstGeom prst="rect">
            <a:avLst/>
          </a:prstGeom>
          <a:noFill/>
        </p:spPr>
        <p:txBody>
          <a:bodyPr wrap="square"/>
          <a:lstStyle/>
          <a:p>
            <a:pPr algn="l">
              <a:defRPr sz="1400" b="1">
                <a:solidFill>
                  <a:srgbClr val="FFFFFF"/>
                </a:solidFill>
                <a:latin typeface="Arial Black"/>
              </a:defRPr>
            </a:pPr>
            <a:r>
              <a:t>APP IS UTILITY, NOT EXPERIENTIAL</a:t>
            </a:r>
          </a:p>
        </p:txBody>
      </p:sp>
      <p:sp>
        <p:nvSpPr>
          <p:cNvPr id="24" name="TextBox 23"/>
          <p:cNvSpPr txBox="1"/>
          <p:nvPr/>
        </p:nvSpPr>
        <p:spPr>
          <a:xfrm>
            <a:off x="4572000" y="4480560"/>
            <a:ext cx="6858000" cy="320040"/>
          </a:xfrm>
          <a:prstGeom prst="rect">
            <a:avLst/>
          </a:prstGeom>
          <a:noFill/>
        </p:spPr>
        <p:txBody>
          <a:bodyPr wrap="square"/>
          <a:lstStyle/>
          <a:p>
            <a:pPr algn="l">
              <a:defRPr sz="1300" b="0">
                <a:solidFill>
                  <a:srgbClr val="BBBBBB"/>
                </a:solidFill>
                <a:latin typeface="Calibri"/>
              </a:defRPr>
            </a:pPr>
            <a:r>
              <a:t>Informational tool, not a service platform</a:t>
            </a:r>
          </a:p>
        </p:txBody>
      </p:sp>
      <p:sp>
        <p:nvSpPr>
          <p:cNvPr id="25" name="Oval 24"/>
          <p:cNvSpPr/>
          <p:nvPr/>
        </p:nvSpPr>
        <p:spPr>
          <a:xfrm>
            <a:off x="731520" y="5166360"/>
            <a:ext cx="320040" cy="3200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166360"/>
            <a:ext cx="320040" cy="320040"/>
          </a:xfrm>
          <a:prstGeom prst="rect">
            <a:avLst/>
          </a:prstGeom>
          <a:noFill/>
        </p:spPr>
        <p:txBody>
          <a:bodyPr wrap="square"/>
          <a:lstStyle/>
          <a:p>
            <a:pPr algn="ctr">
              <a:defRPr sz="1200" b="1">
                <a:solidFill>
                  <a:srgbClr val="1A1A1A"/>
                </a:solidFill>
                <a:latin typeface="Arial Black"/>
              </a:defRPr>
            </a:pPr>
            <a:r>
              <a:t>6</a:t>
            </a:r>
          </a:p>
        </p:txBody>
      </p:sp>
      <p:sp>
        <p:nvSpPr>
          <p:cNvPr id="27" name="TextBox 26"/>
          <p:cNvSpPr txBox="1"/>
          <p:nvPr/>
        </p:nvSpPr>
        <p:spPr>
          <a:xfrm>
            <a:off x="1280160" y="5120640"/>
            <a:ext cx="3200400" cy="320040"/>
          </a:xfrm>
          <a:prstGeom prst="rect">
            <a:avLst/>
          </a:prstGeom>
          <a:noFill/>
        </p:spPr>
        <p:txBody>
          <a:bodyPr wrap="square"/>
          <a:lstStyle/>
          <a:p>
            <a:pPr algn="l">
              <a:defRPr sz="1400" b="1">
                <a:solidFill>
                  <a:srgbClr val="FFFFFF"/>
                </a:solidFill>
                <a:latin typeface="Arial Black"/>
              </a:defRPr>
            </a:pPr>
            <a:r>
              <a:t>NOT BUILT FOR NATIONAL MARKETING</a:t>
            </a:r>
          </a:p>
        </p:txBody>
      </p:sp>
      <p:sp>
        <p:nvSpPr>
          <p:cNvPr id="28" name="TextBox 27"/>
          <p:cNvSpPr txBox="1"/>
          <p:nvPr/>
        </p:nvSpPr>
        <p:spPr>
          <a:xfrm>
            <a:off x="4572000" y="5138928"/>
            <a:ext cx="6858000" cy="320040"/>
          </a:xfrm>
          <a:prstGeom prst="rect">
            <a:avLst/>
          </a:prstGeom>
          <a:noFill/>
        </p:spPr>
        <p:txBody>
          <a:bodyPr wrap="square"/>
          <a:lstStyle/>
          <a:p>
            <a:pPr algn="l">
              <a:defRPr sz="1300" b="0">
                <a:solidFill>
                  <a:srgbClr val="BBBBBB"/>
                </a:solidFill>
                <a:latin typeface="Calibri"/>
              </a:defRPr>
            </a:pPr>
            <a:r>
              <a:t>Can't run unified campaigns or track ROI</a:t>
            </a:r>
          </a:p>
        </p:txBody>
      </p:sp>
      <p:sp>
        <p:nvSpPr>
          <p:cNvPr id="29" name="Oval 28"/>
          <p:cNvSpPr/>
          <p:nvPr/>
        </p:nvSpPr>
        <p:spPr>
          <a:xfrm>
            <a:off x="731520" y="5824728"/>
            <a:ext cx="320040" cy="3200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824728"/>
            <a:ext cx="320040" cy="320040"/>
          </a:xfrm>
          <a:prstGeom prst="rect">
            <a:avLst/>
          </a:prstGeom>
          <a:noFill/>
        </p:spPr>
        <p:txBody>
          <a:bodyPr wrap="square"/>
          <a:lstStyle/>
          <a:p>
            <a:pPr algn="ctr">
              <a:defRPr sz="1200" b="1">
                <a:solidFill>
                  <a:srgbClr val="1A1A1A"/>
                </a:solidFill>
                <a:latin typeface="Arial Black"/>
              </a:defRPr>
            </a:pPr>
            <a:r>
              <a:t>7</a:t>
            </a:r>
          </a:p>
        </p:txBody>
      </p:sp>
      <p:sp>
        <p:nvSpPr>
          <p:cNvPr id="31" name="TextBox 30"/>
          <p:cNvSpPr txBox="1"/>
          <p:nvPr/>
        </p:nvSpPr>
        <p:spPr>
          <a:xfrm>
            <a:off x="1280160" y="5779008"/>
            <a:ext cx="3200400" cy="320040"/>
          </a:xfrm>
          <a:prstGeom prst="rect">
            <a:avLst/>
          </a:prstGeom>
          <a:noFill/>
        </p:spPr>
        <p:txBody>
          <a:bodyPr wrap="square"/>
          <a:lstStyle/>
          <a:p>
            <a:pPr algn="l">
              <a:defRPr sz="1400" b="1">
                <a:solidFill>
                  <a:srgbClr val="FFFFFF"/>
                </a:solidFill>
                <a:latin typeface="Arial Black"/>
              </a:defRPr>
            </a:pPr>
            <a:r>
              <a:t>TECH PROVIDER = YOUR STRATEGY</a:t>
            </a:r>
          </a:p>
        </p:txBody>
      </p:sp>
      <p:sp>
        <p:nvSpPr>
          <p:cNvPr id="32" name="TextBox 31"/>
          <p:cNvSpPr txBox="1"/>
          <p:nvPr/>
        </p:nvSpPr>
        <p:spPr>
          <a:xfrm>
            <a:off x="4572000" y="5797296"/>
            <a:ext cx="6858000" cy="320040"/>
          </a:xfrm>
          <a:prstGeom prst="rect">
            <a:avLst/>
          </a:prstGeom>
          <a:noFill/>
        </p:spPr>
        <p:txBody>
          <a:bodyPr wrap="square"/>
          <a:lstStyle/>
          <a:p>
            <a:pPr algn="l">
              <a:defRPr sz="1300" b="0">
                <a:solidFill>
                  <a:srgbClr val="BBBBBB"/>
                </a:solidFill>
                <a:latin typeface="Calibri"/>
              </a:defRPr>
            </a:pPr>
            <a:r>
              <a:t>Instead of a strategy with tech that supports it</a:t>
            </a:r>
          </a:p>
        </p:txBody>
      </p:sp>
      <p:sp>
        <p:nvSpPr>
          <p:cNvPr id="33" name="Rounded Rectangle 32"/>
          <p:cNvSpPr/>
          <p:nvPr/>
        </p:nvSpPr>
        <p:spPr>
          <a:xfrm>
            <a:off x="731520" y="5943600"/>
            <a:ext cx="10698480" cy="640080"/>
          </a:xfrm>
          <a:prstGeom prst="roundRect">
            <a:avLst/>
          </a:prstGeom>
          <a:solidFill>
            <a:srgbClr val="2D2D2D"/>
          </a:solidFill>
          <a:ln w="127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5943600"/>
            <a:ext cx="1097280" cy="365760"/>
          </a:xfrm>
          <a:prstGeom prst="rect">
            <a:avLst/>
          </a:prstGeom>
          <a:noFill/>
        </p:spPr>
        <p:txBody>
          <a:bodyPr wrap="square"/>
          <a:lstStyle/>
          <a:p>
            <a:pPr algn="ctr">
              <a:defRPr sz="1800" b="1">
                <a:solidFill>
                  <a:srgbClr val="F2C23E"/>
                </a:solidFill>
                <a:latin typeface="Arial Black"/>
              </a:defRPr>
            </a:pPr>
            <a:r>
              <a:t>2.5 / 5</a:t>
            </a:r>
          </a:p>
        </p:txBody>
      </p:sp>
      <p:sp>
        <p:nvSpPr>
          <p:cNvPr id="35" name="TextBox 34"/>
          <p:cNvSpPr txBox="1"/>
          <p:nvPr/>
        </p:nvSpPr>
        <p:spPr>
          <a:xfrm>
            <a:off x="822960" y="6309360"/>
            <a:ext cx="1645920" cy="274320"/>
          </a:xfrm>
          <a:prstGeom prst="rect">
            <a:avLst/>
          </a:prstGeom>
          <a:noFill/>
        </p:spPr>
        <p:txBody>
          <a:bodyPr wrap="square"/>
          <a:lstStyle/>
          <a:p>
            <a:pPr algn="ctr">
              <a:defRPr sz="900" b="0">
                <a:solidFill>
                  <a:srgbClr val="555555"/>
                </a:solidFill>
                <a:latin typeface="Calibri"/>
              </a:defRPr>
            </a:pPr>
            <a:r>
              <a:t>OVERALL SATISFACTION</a:t>
            </a:r>
          </a:p>
        </p:txBody>
      </p:sp>
      <p:sp>
        <p:nvSpPr>
          <p:cNvPr id="36" name="TextBox 35"/>
          <p:cNvSpPr txBox="1"/>
          <p:nvPr/>
        </p:nvSpPr>
        <p:spPr>
          <a:xfrm>
            <a:off x="3840480" y="5943600"/>
            <a:ext cx="1097280" cy="365760"/>
          </a:xfrm>
          <a:prstGeom prst="rect">
            <a:avLst/>
          </a:prstGeom>
          <a:noFill/>
        </p:spPr>
        <p:txBody>
          <a:bodyPr wrap="square"/>
          <a:lstStyle/>
          <a:p>
            <a:pPr algn="ctr">
              <a:defRPr sz="1800" b="1">
                <a:solidFill>
                  <a:srgbClr val="C62828"/>
                </a:solidFill>
                <a:latin typeface="Arial Black"/>
              </a:defRPr>
            </a:pPr>
            <a:r>
              <a:t>2.3 / 5</a:t>
            </a:r>
          </a:p>
        </p:txBody>
      </p:sp>
      <p:sp>
        <p:nvSpPr>
          <p:cNvPr id="37" name="TextBox 36"/>
          <p:cNvSpPr txBox="1"/>
          <p:nvPr/>
        </p:nvSpPr>
        <p:spPr>
          <a:xfrm>
            <a:off x="3566160" y="6309360"/>
            <a:ext cx="1645920" cy="274320"/>
          </a:xfrm>
          <a:prstGeom prst="rect">
            <a:avLst/>
          </a:prstGeom>
          <a:noFill/>
        </p:spPr>
        <p:txBody>
          <a:bodyPr wrap="square"/>
          <a:lstStyle/>
          <a:p>
            <a:pPr algn="ctr">
              <a:defRPr sz="900" b="0">
                <a:solidFill>
                  <a:srgbClr val="555555"/>
                </a:solidFill>
                <a:latin typeface="Calibri"/>
              </a:defRPr>
            </a:pPr>
            <a:r>
              <a:t>ABC FITNESS</a:t>
            </a:r>
          </a:p>
        </p:txBody>
      </p:sp>
      <p:sp>
        <p:nvSpPr>
          <p:cNvPr id="38" name="TextBox 37"/>
          <p:cNvSpPr txBox="1"/>
          <p:nvPr/>
        </p:nvSpPr>
        <p:spPr>
          <a:xfrm>
            <a:off x="6583680" y="5943600"/>
            <a:ext cx="1097280" cy="365760"/>
          </a:xfrm>
          <a:prstGeom prst="rect">
            <a:avLst/>
          </a:prstGeom>
          <a:noFill/>
        </p:spPr>
        <p:txBody>
          <a:bodyPr wrap="square"/>
          <a:lstStyle/>
          <a:p>
            <a:pPr algn="ctr">
              <a:defRPr sz="1800" b="1">
                <a:solidFill>
                  <a:srgbClr val="C62828"/>
                </a:solidFill>
                <a:latin typeface="Arial Black"/>
              </a:defRPr>
            </a:pPr>
            <a:r>
              <a:t>2.0 / 5</a:t>
            </a:r>
          </a:p>
        </p:txBody>
      </p:sp>
      <p:sp>
        <p:nvSpPr>
          <p:cNvPr id="39" name="TextBox 38"/>
          <p:cNvSpPr txBox="1"/>
          <p:nvPr/>
        </p:nvSpPr>
        <p:spPr>
          <a:xfrm>
            <a:off x="6309360" y="6309360"/>
            <a:ext cx="1645920" cy="274320"/>
          </a:xfrm>
          <a:prstGeom prst="rect">
            <a:avLst/>
          </a:prstGeom>
          <a:noFill/>
        </p:spPr>
        <p:txBody>
          <a:bodyPr wrap="square"/>
          <a:lstStyle/>
          <a:p>
            <a:pPr algn="ctr">
              <a:defRPr sz="900" b="0">
                <a:solidFill>
                  <a:srgbClr val="555555"/>
                </a:solidFill>
                <a:latin typeface="Calibri"/>
              </a:defRPr>
            </a:pPr>
            <a:r>
              <a:t>MOTIONSOFT</a:t>
            </a:r>
          </a:p>
        </p:txBody>
      </p:sp>
      <p:sp>
        <p:nvSpPr>
          <p:cNvPr id="40" name="TextBox 39"/>
          <p:cNvSpPr txBox="1"/>
          <p:nvPr/>
        </p:nvSpPr>
        <p:spPr>
          <a:xfrm>
            <a:off x="9326880" y="5943600"/>
            <a:ext cx="1097280" cy="365760"/>
          </a:xfrm>
          <a:prstGeom prst="rect">
            <a:avLst/>
          </a:prstGeom>
          <a:noFill/>
        </p:spPr>
        <p:txBody>
          <a:bodyPr wrap="square"/>
          <a:lstStyle/>
          <a:p>
            <a:pPr algn="ctr">
              <a:defRPr sz="1800" b="1">
                <a:solidFill>
                  <a:srgbClr val="2E7D32"/>
                </a:solidFill>
                <a:latin typeface="Arial Black"/>
              </a:defRPr>
            </a:pPr>
            <a:r>
              <a:t>4.5 / 5</a:t>
            </a:r>
          </a:p>
        </p:txBody>
      </p:sp>
      <p:sp>
        <p:nvSpPr>
          <p:cNvPr id="41" name="TextBox 40"/>
          <p:cNvSpPr txBox="1"/>
          <p:nvPr/>
        </p:nvSpPr>
        <p:spPr>
          <a:xfrm>
            <a:off x="9052560" y="6309360"/>
            <a:ext cx="1645920" cy="274320"/>
          </a:xfrm>
          <a:prstGeom prst="rect">
            <a:avLst/>
          </a:prstGeom>
          <a:noFill/>
        </p:spPr>
        <p:txBody>
          <a:bodyPr wrap="square"/>
          <a:lstStyle/>
          <a:p>
            <a:pPr algn="ctr">
              <a:defRPr sz="900" b="0">
                <a:solidFill>
                  <a:srgbClr val="555555"/>
                </a:solidFill>
                <a:latin typeface="Calibri"/>
              </a:defRPr>
            </a:pPr>
            <a:r>
              <a:t>MOTION VIBE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04</a:t>
            </a:r>
          </a:p>
        </p:txBody>
      </p:sp>
      <p:sp>
        <p:nvSpPr>
          <p:cNvPr id="3" name="TextBox 2"/>
          <p:cNvSpPr txBox="1"/>
          <p:nvPr/>
        </p:nvSpPr>
        <p:spPr>
          <a:xfrm>
            <a:off x="731520" y="548640"/>
            <a:ext cx="10058400" cy="548640"/>
          </a:xfrm>
          <a:prstGeom prst="rect">
            <a:avLst/>
          </a:prstGeom>
          <a:noFill/>
        </p:spPr>
        <p:txBody>
          <a:bodyPr wrap="square"/>
          <a:lstStyle/>
          <a:p>
            <a:pPr algn="l">
              <a:defRPr sz="3200" b="1">
                <a:solidFill>
                  <a:srgbClr val="1A1A1A"/>
                </a:solidFill>
                <a:latin typeface="Arial Black"/>
              </a:defRPr>
            </a:pPr>
            <a:r>
              <a:t>BUILD  vs.  ASSEMBLE  vs.  BUY</a:t>
            </a:r>
          </a:p>
        </p:txBody>
      </p:sp>
      <p:sp>
        <p:nvSpPr>
          <p:cNvPr id="4" name="Rounded Rectangle 3"/>
          <p:cNvSpPr/>
          <p:nvPr/>
        </p:nvSpPr>
        <p:spPr>
          <a:xfrm>
            <a:off x="548640" y="1371600"/>
            <a:ext cx="3566160" cy="4754880"/>
          </a:xfrm>
          <a:prstGeom prst="roundRect">
            <a:avLst/>
          </a:prstGeom>
          <a:solidFill>
            <a:srgbClr val="FFFFFF"/>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200400" cy="457200"/>
          </a:xfrm>
          <a:prstGeom prst="rect">
            <a:avLst/>
          </a:prstGeom>
          <a:noFill/>
        </p:spPr>
        <p:txBody>
          <a:bodyPr wrap="square"/>
          <a:lstStyle/>
          <a:p>
            <a:pPr algn="ctr">
              <a:defRPr sz="2400" b="1">
                <a:solidFill>
                  <a:srgbClr val="C62828"/>
                </a:solidFill>
                <a:latin typeface="Arial Black"/>
              </a:defRPr>
            </a:pPr>
            <a:r>
              <a:t>BUILD</a:t>
            </a:r>
          </a:p>
        </p:txBody>
      </p:sp>
      <p:sp>
        <p:nvSpPr>
          <p:cNvPr id="6" name="Rectangle 5"/>
          <p:cNvSpPr/>
          <p:nvPr/>
        </p:nvSpPr>
        <p:spPr>
          <a:xfrm>
            <a:off x="1005840" y="2194560"/>
            <a:ext cx="2651760" cy="254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45059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377440"/>
            <a:ext cx="2834640" cy="411480"/>
          </a:xfrm>
          <a:prstGeom prst="rect">
            <a:avLst/>
          </a:prstGeom>
          <a:noFill/>
        </p:spPr>
        <p:txBody>
          <a:bodyPr wrap="square"/>
          <a:lstStyle/>
          <a:p>
            <a:pPr algn="l">
              <a:defRPr sz="1200" b="0">
                <a:solidFill>
                  <a:srgbClr val="1A1A1A"/>
                </a:solidFill>
                <a:latin typeface="Calibri"/>
              </a:defRPr>
            </a:pPr>
            <a:r>
              <a:t>Custom platform from scratch</a:t>
            </a:r>
          </a:p>
        </p:txBody>
      </p:sp>
      <p:sp>
        <p:nvSpPr>
          <p:cNvPr id="9" name="Oval 8"/>
          <p:cNvSpPr/>
          <p:nvPr/>
        </p:nvSpPr>
        <p:spPr>
          <a:xfrm>
            <a:off x="868680" y="295351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880360"/>
            <a:ext cx="2834640" cy="411480"/>
          </a:xfrm>
          <a:prstGeom prst="rect">
            <a:avLst/>
          </a:prstGeom>
          <a:noFill/>
        </p:spPr>
        <p:txBody>
          <a:bodyPr wrap="square"/>
          <a:lstStyle/>
          <a:p>
            <a:pPr algn="l">
              <a:defRPr sz="1200" b="0">
                <a:solidFill>
                  <a:srgbClr val="1A1A1A"/>
                </a:solidFill>
                <a:latin typeface="Calibri"/>
              </a:defRPr>
            </a:pPr>
            <a:r>
              <a:t>Maximum control &amp; differentiation</a:t>
            </a:r>
          </a:p>
        </p:txBody>
      </p:sp>
      <p:sp>
        <p:nvSpPr>
          <p:cNvPr id="11" name="Oval 10"/>
          <p:cNvSpPr/>
          <p:nvPr/>
        </p:nvSpPr>
        <p:spPr>
          <a:xfrm>
            <a:off x="868680" y="345643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383280"/>
            <a:ext cx="2834640" cy="411480"/>
          </a:xfrm>
          <a:prstGeom prst="rect">
            <a:avLst/>
          </a:prstGeom>
          <a:noFill/>
        </p:spPr>
        <p:txBody>
          <a:bodyPr wrap="square"/>
          <a:lstStyle/>
          <a:p>
            <a:pPr algn="l">
              <a:defRPr sz="1200" b="0">
                <a:solidFill>
                  <a:srgbClr val="1A1A1A"/>
                </a:solidFill>
                <a:latin typeface="Calibri"/>
              </a:defRPr>
            </a:pPr>
            <a:r>
              <a:t>Highest cost &amp; longest timeline</a:t>
            </a:r>
          </a:p>
        </p:txBody>
      </p:sp>
      <p:sp>
        <p:nvSpPr>
          <p:cNvPr id="13" name="Oval 12"/>
          <p:cNvSpPr/>
          <p:nvPr/>
        </p:nvSpPr>
        <p:spPr>
          <a:xfrm>
            <a:off x="868680" y="395935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886200"/>
            <a:ext cx="2834640" cy="411480"/>
          </a:xfrm>
          <a:prstGeom prst="rect">
            <a:avLst/>
          </a:prstGeom>
          <a:noFill/>
        </p:spPr>
        <p:txBody>
          <a:bodyPr wrap="square"/>
          <a:lstStyle/>
          <a:p>
            <a:pPr algn="l">
              <a:defRPr sz="1200" b="0">
                <a:solidFill>
                  <a:srgbClr val="1A1A1A"/>
                </a:solidFill>
                <a:latin typeface="Calibri"/>
              </a:defRPr>
            </a:pPr>
            <a:r>
              <a:t>Requires large engineering team</a:t>
            </a:r>
          </a:p>
        </p:txBody>
      </p:sp>
      <p:sp>
        <p:nvSpPr>
          <p:cNvPr id="15" name="Oval 14"/>
          <p:cNvSpPr/>
          <p:nvPr/>
        </p:nvSpPr>
        <p:spPr>
          <a:xfrm>
            <a:off x="868680" y="446227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389120"/>
            <a:ext cx="2834640" cy="411480"/>
          </a:xfrm>
          <a:prstGeom prst="rect">
            <a:avLst/>
          </a:prstGeom>
          <a:noFill/>
        </p:spPr>
        <p:txBody>
          <a:bodyPr wrap="square"/>
          <a:lstStyle/>
          <a:p>
            <a:pPr algn="l">
              <a:defRPr sz="1200" b="0">
                <a:solidFill>
                  <a:srgbClr val="1A1A1A"/>
                </a:solidFill>
                <a:latin typeface="Calibri"/>
              </a:defRPr>
            </a:pPr>
            <a:r>
              <a:t>8/10 team investment</a:t>
            </a:r>
          </a:p>
        </p:txBody>
      </p:sp>
      <p:sp>
        <p:nvSpPr>
          <p:cNvPr id="17" name="Rectangle 16"/>
          <p:cNvSpPr/>
          <p:nvPr/>
        </p:nvSpPr>
        <p:spPr>
          <a:xfrm>
            <a:off x="822960" y="5029200"/>
            <a:ext cx="3017520" cy="12700"/>
          </a:xfrm>
          <a:prstGeom prst="rect">
            <a:avLst/>
          </a:prstGeom>
          <a:solidFill>
            <a:srgbClr val="E5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166360"/>
            <a:ext cx="3017520" cy="731520"/>
          </a:xfrm>
          <a:prstGeom prst="rect">
            <a:avLst/>
          </a:prstGeom>
          <a:noFill/>
        </p:spPr>
        <p:txBody>
          <a:bodyPr wrap="square"/>
          <a:lstStyle/>
          <a:p>
            <a:pPr algn="ctr">
              <a:defRPr sz="1200" b="1">
                <a:solidFill>
                  <a:srgbClr val="C62828"/>
                </a:solidFill>
                <a:latin typeface="Calibri"/>
              </a:defRPr>
            </a:pPr>
            <a:r>
              <a:t>Aspirational — requires</a:t>
            </a:r>
            <a:br/>
            <a:r>
              <a:t>more organizational readiness</a:t>
            </a:r>
          </a:p>
        </p:txBody>
      </p:sp>
      <p:sp>
        <p:nvSpPr>
          <p:cNvPr id="19" name="Rounded Rectangle 18"/>
          <p:cNvSpPr/>
          <p:nvPr/>
        </p:nvSpPr>
        <p:spPr>
          <a:xfrm>
            <a:off x="4389120" y="1371600"/>
            <a:ext cx="3566160" cy="4754880"/>
          </a:xfrm>
          <a:prstGeom prst="roundRect">
            <a:avLst/>
          </a:prstGeom>
          <a:solidFill>
            <a:srgbClr val="FFFBEB"/>
          </a:solidFill>
          <a:ln w="508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0" y="1234440"/>
            <a:ext cx="2011680" cy="320040"/>
          </a:xfrm>
          <a:prstGeom prst="round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234440"/>
            <a:ext cx="2011680" cy="320040"/>
          </a:xfrm>
          <a:prstGeom prst="rect">
            <a:avLst/>
          </a:prstGeom>
          <a:noFill/>
        </p:spPr>
        <p:txBody>
          <a:bodyPr wrap="square"/>
          <a:lstStyle/>
          <a:p>
            <a:pPr algn="ctr">
              <a:defRPr sz="1200" b="1">
                <a:solidFill>
                  <a:srgbClr val="1A1A1A"/>
                </a:solidFill>
                <a:latin typeface="Arial Black"/>
              </a:defRPr>
            </a:pPr>
            <a:r>
              <a:t>RECOMMENDED</a:t>
            </a:r>
          </a:p>
        </p:txBody>
      </p:sp>
      <p:sp>
        <p:nvSpPr>
          <p:cNvPr id="22" name="TextBox 21"/>
          <p:cNvSpPr txBox="1"/>
          <p:nvPr/>
        </p:nvSpPr>
        <p:spPr>
          <a:xfrm>
            <a:off x="4572000" y="1645920"/>
            <a:ext cx="3200400" cy="457200"/>
          </a:xfrm>
          <a:prstGeom prst="rect">
            <a:avLst/>
          </a:prstGeom>
          <a:noFill/>
        </p:spPr>
        <p:txBody>
          <a:bodyPr wrap="square"/>
          <a:lstStyle/>
          <a:p>
            <a:pPr algn="ctr">
              <a:defRPr sz="2400" b="1">
                <a:solidFill>
                  <a:srgbClr val="F2C23E"/>
                </a:solidFill>
                <a:latin typeface="Arial Black"/>
              </a:defRPr>
            </a:pPr>
            <a:r>
              <a:t>ASSEMBLE</a:t>
            </a:r>
          </a:p>
        </p:txBody>
      </p:sp>
      <p:sp>
        <p:nvSpPr>
          <p:cNvPr id="23" name="Rectangle 22"/>
          <p:cNvSpPr/>
          <p:nvPr/>
        </p:nvSpPr>
        <p:spPr>
          <a:xfrm>
            <a:off x="4846320" y="2194560"/>
            <a:ext cx="2651760" cy="254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09160" y="2450592"/>
            <a:ext cx="91440" cy="914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2377440"/>
            <a:ext cx="2834640" cy="411480"/>
          </a:xfrm>
          <a:prstGeom prst="rect">
            <a:avLst/>
          </a:prstGeom>
          <a:noFill/>
        </p:spPr>
        <p:txBody>
          <a:bodyPr wrap="square"/>
          <a:lstStyle/>
          <a:p>
            <a:pPr algn="l">
              <a:defRPr sz="1200" b="0">
                <a:solidFill>
                  <a:srgbClr val="1A1A1A"/>
                </a:solidFill>
                <a:latin typeface="Calibri"/>
              </a:defRPr>
            </a:pPr>
            <a:r>
              <a:t>Own the core: experience + data</a:t>
            </a:r>
          </a:p>
        </p:txBody>
      </p:sp>
      <p:sp>
        <p:nvSpPr>
          <p:cNvPr id="26" name="Oval 25"/>
          <p:cNvSpPr/>
          <p:nvPr/>
        </p:nvSpPr>
        <p:spPr>
          <a:xfrm>
            <a:off x="4709160" y="2953512"/>
            <a:ext cx="91440" cy="914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2880360"/>
            <a:ext cx="2834640" cy="411480"/>
          </a:xfrm>
          <a:prstGeom prst="rect">
            <a:avLst/>
          </a:prstGeom>
          <a:noFill/>
        </p:spPr>
        <p:txBody>
          <a:bodyPr wrap="square"/>
          <a:lstStyle/>
          <a:p>
            <a:pPr algn="l">
              <a:defRPr sz="1200" b="0">
                <a:solidFill>
                  <a:srgbClr val="1A1A1A"/>
                </a:solidFill>
                <a:latin typeface="Calibri"/>
              </a:defRPr>
            </a:pPr>
            <a:r>
              <a:t>Best-of-breed vendor components</a:t>
            </a:r>
          </a:p>
        </p:txBody>
      </p:sp>
      <p:sp>
        <p:nvSpPr>
          <p:cNvPr id="28" name="Oval 27"/>
          <p:cNvSpPr/>
          <p:nvPr/>
        </p:nvSpPr>
        <p:spPr>
          <a:xfrm>
            <a:off x="4709160" y="3456432"/>
            <a:ext cx="91440" cy="914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92040" y="3383280"/>
            <a:ext cx="2834640" cy="411480"/>
          </a:xfrm>
          <a:prstGeom prst="rect">
            <a:avLst/>
          </a:prstGeom>
          <a:noFill/>
        </p:spPr>
        <p:txBody>
          <a:bodyPr wrap="square"/>
          <a:lstStyle/>
          <a:p>
            <a:pPr algn="l">
              <a:defRPr sz="1200" b="0">
                <a:solidFill>
                  <a:srgbClr val="1A1A1A"/>
                </a:solidFill>
                <a:latin typeface="Calibri"/>
              </a:defRPr>
            </a:pPr>
            <a:r>
              <a:t>Moderate cost &amp; timeline</a:t>
            </a:r>
          </a:p>
        </p:txBody>
      </p:sp>
      <p:sp>
        <p:nvSpPr>
          <p:cNvPr id="30" name="Oval 29"/>
          <p:cNvSpPr/>
          <p:nvPr/>
        </p:nvSpPr>
        <p:spPr>
          <a:xfrm>
            <a:off x="4709160" y="3959352"/>
            <a:ext cx="91440" cy="914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3886200"/>
            <a:ext cx="2834640" cy="411480"/>
          </a:xfrm>
          <a:prstGeom prst="rect">
            <a:avLst/>
          </a:prstGeom>
          <a:noFill/>
        </p:spPr>
        <p:txBody>
          <a:bodyPr wrap="square"/>
          <a:lstStyle/>
          <a:p>
            <a:pPr algn="l">
              <a:defRPr sz="1200" b="0">
                <a:solidFill>
                  <a:srgbClr val="1A1A1A"/>
                </a:solidFill>
                <a:latin typeface="Calibri"/>
              </a:defRPr>
            </a:pPr>
            <a:r>
              <a:t>Vendors compete, not lock you in</a:t>
            </a:r>
          </a:p>
        </p:txBody>
      </p:sp>
      <p:sp>
        <p:nvSpPr>
          <p:cNvPr id="32" name="Oval 31"/>
          <p:cNvSpPr/>
          <p:nvPr/>
        </p:nvSpPr>
        <p:spPr>
          <a:xfrm>
            <a:off x="4709160" y="4462272"/>
            <a:ext cx="91440" cy="9144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92040" y="4389120"/>
            <a:ext cx="2834640" cy="411480"/>
          </a:xfrm>
          <a:prstGeom prst="rect">
            <a:avLst/>
          </a:prstGeom>
          <a:noFill/>
        </p:spPr>
        <p:txBody>
          <a:bodyPr wrap="square"/>
          <a:lstStyle/>
          <a:p>
            <a:pPr algn="l">
              <a:defRPr sz="1200" b="0">
                <a:solidFill>
                  <a:srgbClr val="1A1A1A"/>
                </a:solidFill>
                <a:latin typeface="Calibri"/>
              </a:defRPr>
            </a:pPr>
            <a:r>
              <a:t>5/10 team investment</a:t>
            </a:r>
          </a:p>
        </p:txBody>
      </p:sp>
      <p:sp>
        <p:nvSpPr>
          <p:cNvPr id="34" name="Rectangle 33"/>
          <p:cNvSpPr/>
          <p:nvPr/>
        </p:nvSpPr>
        <p:spPr>
          <a:xfrm>
            <a:off x="4663440" y="5029200"/>
            <a:ext cx="3017520" cy="12700"/>
          </a:xfrm>
          <a:prstGeom prst="rect">
            <a:avLst/>
          </a:prstGeom>
          <a:solidFill>
            <a:srgbClr val="E5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5166360"/>
            <a:ext cx="3017520" cy="731520"/>
          </a:xfrm>
          <a:prstGeom prst="rect">
            <a:avLst/>
          </a:prstGeom>
          <a:noFill/>
        </p:spPr>
        <p:txBody>
          <a:bodyPr wrap="square"/>
          <a:lstStyle/>
          <a:p>
            <a:pPr algn="ctr">
              <a:defRPr sz="1200" b="1">
                <a:solidFill>
                  <a:srgbClr val="F2C23E"/>
                </a:solidFill>
                <a:latin typeface="Calibri"/>
              </a:defRPr>
            </a:pPr>
            <a:r>
              <a:t>Matches Gold's DNA —</a:t>
            </a:r>
            <a:br/>
            <a:r>
              <a:t>asset-light, franchise-growth focused</a:t>
            </a:r>
          </a:p>
        </p:txBody>
      </p:sp>
      <p:sp>
        <p:nvSpPr>
          <p:cNvPr id="36" name="Rounded Rectangle 35"/>
          <p:cNvSpPr/>
          <p:nvPr/>
        </p:nvSpPr>
        <p:spPr>
          <a:xfrm>
            <a:off x="8229600" y="1371600"/>
            <a:ext cx="3566160" cy="4754880"/>
          </a:xfrm>
          <a:prstGeom prst="roundRect">
            <a:avLst/>
          </a:prstGeom>
          <a:solidFill>
            <a:srgbClr val="FFFFFF"/>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1645920"/>
            <a:ext cx="3200400" cy="457200"/>
          </a:xfrm>
          <a:prstGeom prst="rect">
            <a:avLst/>
          </a:prstGeom>
          <a:noFill/>
        </p:spPr>
        <p:txBody>
          <a:bodyPr wrap="square"/>
          <a:lstStyle/>
          <a:p>
            <a:pPr algn="ctr">
              <a:defRPr sz="2400" b="1">
                <a:solidFill>
                  <a:srgbClr val="C62828"/>
                </a:solidFill>
                <a:latin typeface="Arial Black"/>
              </a:defRPr>
            </a:pPr>
            <a:r>
              <a:t>BUY</a:t>
            </a:r>
          </a:p>
        </p:txBody>
      </p:sp>
      <p:sp>
        <p:nvSpPr>
          <p:cNvPr id="38" name="Rectangle 37"/>
          <p:cNvSpPr/>
          <p:nvPr/>
        </p:nvSpPr>
        <p:spPr>
          <a:xfrm>
            <a:off x="8686800" y="2194560"/>
            <a:ext cx="2651760" cy="254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549640" y="245059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32520" y="2377440"/>
            <a:ext cx="2834640" cy="411480"/>
          </a:xfrm>
          <a:prstGeom prst="rect">
            <a:avLst/>
          </a:prstGeom>
          <a:noFill/>
        </p:spPr>
        <p:txBody>
          <a:bodyPr wrap="square"/>
          <a:lstStyle/>
          <a:p>
            <a:pPr algn="l">
              <a:defRPr sz="1200" b="0">
                <a:solidFill>
                  <a:srgbClr val="1A1A1A"/>
                </a:solidFill>
                <a:latin typeface="Calibri"/>
              </a:defRPr>
            </a:pPr>
            <a:r>
              <a:t>Single off-the-shelf platform</a:t>
            </a:r>
          </a:p>
        </p:txBody>
      </p:sp>
      <p:sp>
        <p:nvSpPr>
          <p:cNvPr id="41" name="Oval 40"/>
          <p:cNvSpPr/>
          <p:nvPr/>
        </p:nvSpPr>
        <p:spPr>
          <a:xfrm>
            <a:off x="8549640" y="295351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32520" y="2880360"/>
            <a:ext cx="2834640" cy="411480"/>
          </a:xfrm>
          <a:prstGeom prst="rect">
            <a:avLst/>
          </a:prstGeom>
          <a:noFill/>
        </p:spPr>
        <p:txBody>
          <a:bodyPr wrap="square"/>
          <a:lstStyle/>
          <a:p>
            <a:pPr algn="l">
              <a:defRPr sz="1200" b="0">
                <a:solidFill>
                  <a:srgbClr val="1A1A1A"/>
                </a:solidFill>
                <a:latin typeface="Calibri"/>
              </a:defRPr>
            </a:pPr>
            <a:r>
              <a:t>Fastest deployment</a:t>
            </a:r>
          </a:p>
        </p:txBody>
      </p:sp>
      <p:sp>
        <p:nvSpPr>
          <p:cNvPr id="43" name="Oval 42"/>
          <p:cNvSpPr/>
          <p:nvPr/>
        </p:nvSpPr>
        <p:spPr>
          <a:xfrm>
            <a:off x="8549640" y="345643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3383280"/>
            <a:ext cx="2834640" cy="411480"/>
          </a:xfrm>
          <a:prstGeom prst="rect">
            <a:avLst/>
          </a:prstGeom>
          <a:noFill/>
        </p:spPr>
        <p:txBody>
          <a:bodyPr wrap="square"/>
          <a:lstStyle/>
          <a:p>
            <a:pPr algn="l">
              <a:defRPr sz="1200" b="0">
                <a:solidFill>
                  <a:srgbClr val="1A1A1A"/>
                </a:solidFill>
                <a:latin typeface="Calibri"/>
              </a:defRPr>
            </a:pPr>
            <a:r>
              <a:t>Least control, vendor lock-in</a:t>
            </a:r>
          </a:p>
        </p:txBody>
      </p:sp>
      <p:sp>
        <p:nvSpPr>
          <p:cNvPr id="45" name="Oval 44"/>
          <p:cNvSpPr/>
          <p:nvPr/>
        </p:nvSpPr>
        <p:spPr>
          <a:xfrm>
            <a:off x="8549640" y="395935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32520" y="3886200"/>
            <a:ext cx="2834640" cy="411480"/>
          </a:xfrm>
          <a:prstGeom prst="rect">
            <a:avLst/>
          </a:prstGeom>
          <a:noFill/>
        </p:spPr>
        <p:txBody>
          <a:bodyPr wrap="square"/>
          <a:lstStyle/>
          <a:p>
            <a:pPr algn="l">
              <a:defRPr sz="1200" b="0">
                <a:solidFill>
                  <a:srgbClr val="1A1A1A"/>
                </a:solidFill>
                <a:latin typeface="Calibri"/>
              </a:defRPr>
            </a:pPr>
            <a:r>
              <a:t>No vendor covers all needs</a:t>
            </a:r>
          </a:p>
        </p:txBody>
      </p:sp>
      <p:sp>
        <p:nvSpPr>
          <p:cNvPr id="47" name="Oval 46"/>
          <p:cNvSpPr/>
          <p:nvPr/>
        </p:nvSpPr>
        <p:spPr>
          <a:xfrm>
            <a:off x="8549640" y="4462272"/>
            <a:ext cx="91440" cy="9144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32520" y="4389120"/>
            <a:ext cx="2834640" cy="411480"/>
          </a:xfrm>
          <a:prstGeom prst="rect">
            <a:avLst/>
          </a:prstGeom>
          <a:noFill/>
        </p:spPr>
        <p:txBody>
          <a:bodyPr wrap="square"/>
          <a:lstStyle/>
          <a:p>
            <a:pPr algn="l">
              <a:defRPr sz="1200" b="0">
                <a:solidFill>
                  <a:srgbClr val="1A1A1A"/>
                </a:solidFill>
                <a:latin typeface="Calibri"/>
              </a:defRPr>
            </a:pPr>
            <a:r>
              <a:t>2/10 team investment</a:t>
            </a:r>
          </a:p>
        </p:txBody>
      </p:sp>
      <p:sp>
        <p:nvSpPr>
          <p:cNvPr id="49" name="Rectangle 48"/>
          <p:cNvSpPr/>
          <p:nvPr/>
        </p:nvSpPr>
        <p:spPr>
          <a:xfrm>
            <a:off x="8503920" y="5029200"/>
            <a:ext cx="3017520" cy="12700"/>
          </a:xfrm>
          <a:prstGeom prst="rect">
            <a:avLst/>
          </a:prstGeom>
          <a:solidFill>
            <a:srgbClr val="E5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0" y="5166360"/>
            <a:ext cx="3017520" cy="731520"/>
          </a:xfrm>
          <a:prstGeom prst="rect">
            <a:avLst/>
          </a:prstGeom>
          <a:noFill/>
        </p:spPr>
        <p:txBody>
          <a:bodyPr wrap="square"/>
          <a:lstStyle/>
          <a:p>
            <a:pPr algn="ctr">
              <a:defRPr sz="1200" b="1">
                <a:solidFill>
                  <a:srgbClr val="C62828"/>
                </a:solidFill>
                <a:latin typeface="Calibri"/>
              </a:defRPr>
            </a:pPr>
            <a:r>
              <a:t>Limiting — buying gaps</a:t>
            </a:r>
            <a:br/>
            <a:r>
              <a:t>and renting your future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05</a:t>
            </a:r>
          </a:p>
        </p:txBody>
      </p:sp>
      <p:sp>
        <p:nvSpPr>
          <p:cNvPr id="3" name="TextBox 2"/>
          <p:cNvSpPr txBox="1"/>
          <p:nvPr/>
        </p:nvSpPr>
        <p:spPr>
          <a:xfrm>
            <a:off x="731520" y="548640"/>
            <a:ext cx="10058400" cy="640080"/>
          </a:xfrm>
          <a:prstGeom prst="rect">
            <a:avLst/>
          </a:prstGeom>
          <a:noFill/>
        </p:spPr>
        <p:txBody>
          <a:bodyPr wrap="square"/>
          <a:lstStyle/>
          <a:p>
            <a:pPr algn="l">
              <a:defRPr sz="3200" b="1">
                <a:solidFill>
                  <a:srgbClr val="F2C23E"/>
                </a:solidFill>
                <a:latin typeface="Arial Black"/>
              </a:defRPr>
            </a:pPr>
            <a:r>
              <a:t>AN APPROACH FOR THE 21ST CENTURY</a:t>
            </a:r>
          </a:p>
        </p:txBody>
      </p:sp>
      <p:sp>
        <p:nvSpPr>
          <p:cNvPr id="4" name="TextBox 3"/>
          <p:cNvSpPr txBox="1"/>
          <p:nvPr/>
        </p:nvSpPr>
        <p:spPr>
          <a:xfrm>
            <a:off x="731520" y="1097280"/>
            <a:ext cx="7315200" cy="365760"/>
          </a:xfrm>
          <a:prstGeom prst="rect">
            <a:avLst/>
          </a:prstGeom>
          <a:noFill/>
        </p:spPr>
        <p:txBody>
          <a:bodyPr wrap="square"/>
          <a:lstStyle/>
          <a:p>
            <a:pPr algn="l">
              <a:defRPr sz="1600" b="0">
                <a:solidFill>
                  <a:srgbClr val="555555"/>
                </a:solidFill>
                <a:latin typeface="Calibri"/>
              </a:defRPr>
            </a:pPr>
            <a:r>
              <a:t>7 shifts from the current state to Project Strong</a:t>
            </a:r>
          </a:p>
        </p:txBody>
      </p:sp>
      <p:graphicFrame>
        <p:nvGraphicFramePr>
          <p:cNvPr id="5" name="Table 4"/>
          <p:cNvGraphicFramePr>
            <a:graphicFrameLocks noGrp="1"/>
          </p:cNvGraphicFramePr>
          <p:nvPr/>
        </p:nvGraphicFramePr>
        <p:xfrm>
          <a:off x="731520" y="1737360"/>
          <a:ext cx="10698480" cy="4572000"/>
        </p:xfrm>
        <a:graphic>
          <a:graphicData uri="http://schemas.openxmlformats.org/drawingml/2006/table">
            <a:tbl>
              <a:tblPr firstRow="1" bandRow="1">
                <a:tableStyleId>{5C22544A-7EE6-4342-B048-85BDC9FD1C3A}</a:tableStyleId>
              </a:tblPr>
              <a:tblGrid>
                <a:gridCol w="457200"/>
                <a:gridCol w="4846320"/>
                <a:gridCol w="5394960"/>
              </a:tblGrid>
              <a:tr h="571500">
                <a:tc>
                  <a:txBody>
                    <a:bodyPr wrap="square"/>
                    <a:lstStyle/>
                    <a:p>
                      <a:pPr algn="ctr">
                        <a:defRPr sz="1200" b="1">
                          <a:solidFill>
                            <a:srgbClr val="F2C23E"/>
                          </a:solidFill>
                          <a:latin typeface="Arial Black"/>
                        </a:defRPr>
                      </a:pPr>
                    </a:p>
                  </a:txBody>
                  <a:tcPr marL="91440" marR="91440" marT="45720" marB="45720">
                    <a:solidFill>
                      <a:srgbClr val="2D2D2D"/>
                    </a:solidFill>
                  </a:tcPr>
                </a:tc>
                <a:tc>
                  <a:txBody>
                    <a:bodyPr wrap="square"/>
                    <a:lstStyle/>
                    <a:p>
                      <a:pPr algn="ctr">
                        <a:defRPr sz="1200" b="1">
                          <a:solidFill>
                            <a:srgbClr val="F2C23E"/>
                          </a:solidFill>
                          <a:latin typeface="Arial Black"/>
                        </a:defRPr>
                      </a:pPr>
                      <a:r>
                        <a:t>FROM  (TODAY)</a:t>
                      </a:r>
                    </a:p>
                  </a:txBody>
                  <a:tcPr marL="91440" marR="91440" marT="45720" marB="45720">
                    <a:solidFill>
                      <a:srgbClr val="2D2D2D"/>
                    </a:solidFill>
                  </a:tcPr>
                </a:tc>
                <a:tc>
                  <a:txBody>
                    <a:bodyPr wrap="square"/>
                    <a:lstStyle/>
                    <a:p>
                      <a:pPr algn="ctr">
                        <a:defRPr sz="1200" b="1">
                          <a:solidFill>
                            <a:srgbClr val="F2C23E"/>
                          </a:solidFill>
                          <a:latin typeface="Arial Black"/>
                        </a:defRPr>
                      </a:pPr>
                      <a:r>
                        <a:t>TO  (PROJECT STRONG)</a:t>
                      </a:r>
                    </a:p>
                  </a:txBody>
                  <a:tcPr marL="91440" marR="91440" marT="45720" marB="45720">
                    <a:solidFill>
                      <a:srgbClr val="2D2D2D"/>
                    </a:solidFill>
                  </a:tcPr>
                </a:tc>
              </a:tr>
              <a:tr h="571500">
                <a:tc>
                  <a:txBody>
                    <a:bodyPr wrap="square"/>
                    <a:lstStyle/>
                    <a:p>
                      <a:pPr algn="ctr">
                        <a:defRPr sz="1400" b="1">
                          <a:solidFill>
                            <a:srgbClr val="F2C23E"/>
                          </a:solidFill>
                          <a:latin typeface="Arial Black"/>
                        </a:defRPr>
                      </a:pPr>
                      <a:r>
                        <a:t>1</a:t>
                      </a:r>
                    </a:p>
                  </a:txBody>
                  <a:tcPr marL="91440" marR="91440" marT="45720" marB="45720">
                    <a:solidFill>
                      <a:srgbClr val="2D2D2D"/>
                    </a:solidFill>
                  </a:tcPr>
                </a:tc>
                <a:tc>
                  <a:txBody>
                    <a:bodyPr wrap="square"/>
                    <a:lstStyle/>
                    <a:p>
                      <a:pPr algn="l">
                        <a:defRPr sz="1400" b="0">
                          <a:solidFill>
                            <a:srgbClr val="AAAAAA"/>
                          </a:solidFill>
                          <a:latin typeface="Calibri"/>
                        </a:defRPr>
                      </a:pPr>
                      <a:r>
                        <a:t>Fragmented data</a:t>
                      </a:r>
                    </a:p>
                  </a:txBody>
                  <a:tcPr marL="91440" marR="91440" marT="45720" marB="45720">
                    <a:solidFill>
                      <a:srgbClr val="2D2D2D"/>
                    </a:solidFill>
                  </a:tcPr>
                </a:tc>
                <a:tc>
                  <a:txBody>
                    <a:bodyPr wrap="square"/>
                    <a:lstStyle/>
                    <a:p>
                      <a:pPr algn="l">
                        <a:defRPr sz="1400" b="1">
                          <a:solidFill>
                            <a:srgbClr val="FFFFFF"/>
                          </a:solidFill>
                          <a:latin typeface="Calibri"/>
                        </a:defRPr>
                      </a:pPr>
                      <a:r>
                        <a:t>Data-first architecture</a:t>
                      </a:r>
                    </a:p>
                  </a:txBody>
                  <a:tcPr marL="91440" marR="91440" marT="45720" marB="45720">
                    <a:solidFill>
                      <a:srgbClr val="2D2D2D"/>
                    </a:solidFill>
                  </a:tcPr>
                </a:tc>
              </a:tr>
              <a:tr h="571500">
                <a:tc>
                  <a:txBody>
                    <a:bodyPr wrap="square"/>
                    <a:lstStyle/>
                    <a:p>
                      <a:pPr algn="ctr">
                        <a:defRPr sz="1400" b="1">
                          <a:solidFill>
                            <a:srgbClr val="F2C23E"/>
                          </a:solidFill>
                          <a:latin typeface="Arial Black"/>
                        </a:defRPr>
                      </a:pPr>
                      <a:r>
                        <a:t>2</a:t>
                      </a:r>
                    </a:p>
                  </a:txBody>
                  <a:tcPr marL="91440" marR="91440" marT="45720" marB="45720">
                    <a:solidFill>
                      <a:srgbClr val="1A1A1A"/>
                    </a:solidFill>
                  </a:tcPr>
                </a:tc>
                <a:tc>
                  <a:txBody>
                    <a:bodyPr wrap="square"/>
                    <a:lstStyle/>
                    <a:p>
                      <a:pPr algn="l">
                        <a:defRPr sz="1400" b="0">
                          <a:solidFill>
                            <a:srgbClr val="AAAAAA"/>
                          </a:solidFill>
                          <a:latin typeface="Calibri"/>
                        </a:defRPr>
                      </a:pPr>
                      <a:r>
                        <a:t>Vendor-controlled experience</a:t>
                      </a:r>
                    </a:p>
                  </a:txBody>
                  <a:tcPr marL="91440" marR="91440" marT="45720" marB="45720">
                    <a:solidFill>
                      <a:srgbClr val="1A1A1A"/>
                    </a:solidFill>
                  </a:tcPr>
                </a:tc>
                <a:tc>
                  <a:txBody>
                    <a:bodyPr wrap="square"/>
                    <a:lstStyle/>
                    <a:p>
                      <a:pPr algn="l">
                        <a:defRPr sz="1400" b="1">
                          <a:solidFill>
                            <a:srgbClr val="FFFFFF"/>
                          </a:solidFill>
                          <a:latin typeface="Calibri"/>
                        </a:defRPr>
                      </a:pPr>
                      <a:r>
                        <a:t>Own the member experience layer</a:t>
                      </a:r>
                    </a:p>
                  </a:txBody>
                  <a:tcPr marL="91440" marR="91440" marT="45720" marB="45720">
                    <a:solidFill>
                      <a:srgbClr val="1A1A1A"/>
                    </a:solidFill>
                  </a:tcPr>
                </a:tc>
              </a:tr>
              <a:tr h="571500">
                <a:tc>
                  <a:txBody>
                    <a:bodyPr wrap="square"/>
                    <a:lstStyle/>
                    <a:p>
                      <a:pPr algn="ctr">
                        <a:defRPr sz="1400" b="1">
                          <a:solidFill>
                            <a:srgbClr val="F2C23E"/>
                          </a:solidFill>
                          <a:latin typeface="Arial Black"/>
                        </a:defRPr>
                      </a:pPr>
                      <a:r>
                        <a:t>3</a:t>
                      </a:r>
                    </a:p>
                  </a:txBody>
                  <a:tcPr marL="91440" marR="91440" marT="45720" marB="45720">
                    <a:solidFill>
                      <a:srgbClr val="2D2D2D"/>
                    </a:solidFill>
                  </a:tcPr>
                </a:tc>
                <a:tc>
                  <a:txBody>
                    <a:bodyPr wrap="square"/>
                    <a:lstStyle/>
                    <a:p>
                      <a:pPr algn="l">
                        <a:defRPr sz="1400" b="0">
                          <a:solidFill>
                            <a:srgbClr val="AAAAAA"/>
                          </a:solidFill>
                          <a:latin typeface="Calibri"/>
                        </a:defRPr>
                      </a:pPr>
                      <a:r>
                        <a:t>Point-to-point integrations</a:t>
                      </a:r>
                    </a:p>
                  </a:txBody>
                  <a:tcPr marL="91440" marR="91440" marT="45720" marB="45720">
                    <a:solidFill>
                      <a:srgbClr val="2D2D2D"/>
                    </a:solidFill>
                  </a:tcPr>
                </a:tc>
                <a:tc>
                  <a:txBody>
                    <a:bodyPr wrap="square"/>
                    <a:lstStyle/>
                    <a:p>
                      <a:pPr algn="l">
                        <a:defRPr sz="1400" b="1">
                          <a:solidFill>
                            <a:srgbClr val="FFFFFF"/>
                          </a:solidFill>
                          <a:latin typeface="Calibri"/>
                        </a:defRPr>
                      </a:pPr>
                      <a:r>
                        <a:t>Vendors plug into your middleware</a:t>
                      </a:r>
                    </a:p>
                  </a:txBody>
                  <a:tcPr marL="91440" marR="91440" marT="45720" marB="45720">
                    <a:solidFill>
                      <a:srgbClr val="2D2D2D"/>
                    </a:solidFill>
                  </a:tcPr>
                </a:tc>
              </a:tr>
              <a:tr h="571500">
                <a:tc>
                  <a:txBody>
                    <a:bodyPr wrap="square"/>
                    <a:lstStyle/>
                    <a:p>
                      <a:pPr algn="ctr">
                        <a:defRPr sz="1400" b="1">
                          <a:solidFill>
                            <a:srgbClr val="F2C23E"/>
                          </a:solidFill>
                          <a:latin typeface="Arial Black"/>
                        </a:defRPr>
                      </a:pPr>
                      <a:r>
                        <a:t>4</a:t>
                      </a:r>
                    </a:p>
                  </a:txBody>
                  <a:tcPr marL="91440" marR="91440" marT="45720" marB="45720">
                    <a:solidFill>
                      <a:srgbClr val="1A1A1A"/>
                    </a:solidFill>
                  </a:tcPr>
                </a:tc>
                <a:tc>
                  <a:txBody>
                    <a:bodyPr wrap="square"/>
                    <a:lstStyle/>
                    <a:p>
                      <a:pPr algn="l">
                        <a:defRPr sz="1400" b="0">
                          <a:solidFill>
                            <a:srgbClr val="AAAAAA"/>
                          </a:solidFill>
                          <a:latin typeface="Calibri"/>
                        </a:defRPr>
                      </a:pPr>
                      <a:r>
                        <a:t>Franchisees on separate websites</a:t>
                      </a:r>
                    </a:p>
                  </a:txBody>
                  <a:tcPr marL="91440" marR="91440" marT="45720" marB="45720">
                    <a:solidFill>
                      <a:srgbClr val="1A1A1A"/>
                    </a:solidFill>
                  </a:tcPr>
                </a:tc>
                <a:tc>
                  <a:txBody>
                    <a:bodyPr wrap="square"/>
                    <a:lstStyle/>
                    <a:p>
                      <a:pPr algn="l">
                        <a:defRPr sz="1400" b="1">
                          <a:solidFill>
                            <a:srgbClr val="FFFFFF"/>
                          </a:solidFill>
                          <a:latin typeface="Calibri"/>
                        </a:defRPr>
                      </a:pPr>
                      <a:r>
                        <a:t>All franchisees on one corporate website</a:t>
                      </a:r>
                    </a:p>
                  </a:txBody>
                  <a:tcPr marL="91440" marR="91440" marT="45720" marB="45720">
                    <a:solidFill>
                      <a:srgbClr val="1A1A1A"/>
                    </a:solidFill>
                  </a:tcPr>
                </a:tc>
              </a:tr>
              <a:tr h="571500">
                <a:tc>
                  <a:txBody>
                    <a:bodyPr wrap="square"/>
                    <a:lstStyle/>
                    <a:p>
                      <a:pPr algn="ctr">
                        <a:defRPr sz="1400" b="1">
                          <a:solidFill>
                            <a:srgbClr val="F2C23E"/>
                          </a:solidFill>
                          <a:latin typeface="Arial Black"/>
                        </a:defRPr>
                      </a:pPr>
                      <a:r>
                        <a:t>5</a:t>
                      </a:r>
                    </a:p>
                  </a:txBody>
                  <a:tcPr marL="91440" marR="91440" marT="45720" marB="45720">
                    <a:solidFill>
                      <a:srgbClr val="2D2D2D"/>
                    </a:solidFill>
                  </a:tcPr>
                </a:tc>
                <a:tc>
                  <a:txBody>
                    <a:bodyPr wrap="square"/>
                    <a:lstStyle/>
                    <a:p>
                      <a:pPr algn="l">
                        <a:defRPr sz="1400" b="0">
                          <a:solidFill>
                            <a:srgbClr val="AAAAAA"/>
                          </a:solidFill>
                          <a:latin typeface="Calibri"/>
                        </a:defRPr>
                      </a:pPr>
                      <a:r>
                        <a:t>Separate utility apps</a:t>
                      </a:r>
                    </a:p>
                  </a:txBody>
                  <a:tcPr marL="91440" marR="91440" marT="45720" marB="45720">
                    <a:solidFill>
                      <a:srgbClr val="2D2D2D"/>
                    </a:solidFill>
                  </a:tcPr>
                </a:tc>
                <a:tc>
                  <a:txBody>
                    <a:bodyPr wrap="square"/>
                    <a:lstStyle/>
                    <a:p>
                      <a:pPr algn="l">
                        <a:defRPr sz="1400" b="1">
                          <a:solidFill>
                            <a:srgbClr val="FFFFFF"/>
                          </a:solidFill>
                          <a:latin typeface="Calibri"/>
                        </a:defRPr>
                      </a:pPr>
                      <a:r>
                        <a:t>One digital app for ALL offerings</a:t>
                      </a:r>
                    </a:p>
                  </a:txBody>
                  <a:tcPr marL="91440" marR="91440" marT="45720" marB="45720">
                    <a:solidFill>
                      <a:srgbClr val="2D2D2D"/>
                    </a:solidFill>
                  </a:tcPr>
                </a:tc>
              </a:tr>
              <a:tr h="571500">
                <a:tc>
                  <a:txBody>
                    <a:bodyPr wrap="square"/>
                    <a:lstStyle/>
                    <a:p>
                      <a:pPr algn="ctr">
                        <a:defRPr sz="1400" b="1">
                          <a:solidFill>
                            <a:srgbClr val="F2C23E"/>
                          </a:solidFill>
                          <a:latin typeface="Arial Black"/>
                        </a:defRPr>
                      </a:pPr>
                      <a:r>
                        <a:t>6</a:t>
                      </a:r>
                    </a:p>
                  </a:txBody>
                  <a:tcPr marL="91440" marR="91440" marT="45720" marB="45720">
                    <a:solidFill>
                      <a:srgbClr val="1A1A1A"/>
                    </a:solidFill>
                  </a:tcPr>
                </a:tc>
                <a:tc>
                  <a:txBody>
                    <a:bodyPr wrap="square"/>
                    <a:lstStyle/>
                    <a:p>
                      <a:pPr algn="l">
                        <a:defRPr sz="1400" b="0">
                          <a:solidFill>
                            <a:srgbClr val="AAAAAA"/>
                          </a:solidFill>
                          <a:latin typeface="Calibri"/>
                        </a:defRPr>
                      </a:pPr>
                      <a:r>
                        <a:t>App as info tool</a:t>
                      </a:r>
                    </a:p>
                  </a:txBody>
                  <a:tcPr marL="91440" marR="91440" marT="45720" marB="45720">
                    <a:solidFill>
                      <a:srgbClr val="1A1A1A"/>
                    </a:solidFill>
                  </a:tcPr>
                </a:tc>
                <a:tc>
                  <a:txBody>
                    <a:bodyPr wrap="square"/>
                    <a:lstStyle/>
                    <a:p>
                      <a:pPr algn="l">
                        <a:defRPr sz="1400" b="1">
                          <a:solidFill>
                            <a:srgbClr val="FFFFFF"/>
                          </a:solidFill>
                          <a:latin typeface="Calibri"/>
                        </a:defRPr>
                      </a:pPr>
                      <a:r>
                        <a:t>App is a 24/7 service platform for members</a:t>
                      </a:r>
                    </a:p>
                  </a:txBody>
                  <a:tcPr marL="91440" marR="91440" marT="45720" marB="45720">
                    <a:solidFill>
                      <a:srgbClr val="1A1A1A"/>
                    </a:solidFill>
                  </a:tcPr>
                </a:tc>
              </a:tr>
              <a:tr h="571500">
                <a:tc>
                  <a:txBody>
                    <a:bodyPr wrap="square"/>
                    <a:lstStyle/>
                    <a:p>
                      <a:pPr algn="ctr">
                        <a:defRPr sz="1400" b="1">
                          <a:solidFill>
                            <a:srgbClr val="F2C23E"/>
                          </a:solidFill>
                          <a:latin typeface="Arial Black"/>
                        </a:defRPr>
                      </a:pPr>
                      <a:r>
                        <a:t>7</a:t>
                      </a:r>
                    </a:p>
                  </a:txBody>
                  <a:tcPr marL="91440" marR="91440" marT="45720" marB="45720">
                    <a:solidFill>
                      <a:srgbClr val="2D2D2D"/>
                    </a:solidFill>
                  </a:tcPr>
                </a:tc>
                <a:tc>
                  <a:txBody>
                    <a:bodyPr wrap="square"/>
                    <a:lstStyle/>
                    <a:p>
                      <a:pPr algn="l">
                        <a:defRPr sz="1400" b="0">
                          <a:solidFill>
                            <a:srgbClr val="AAAAAA"/>
                          </a:solidFill>
                          <a:latin typeface="Calibri"/>
                        </a:defRPr>
                      </a:pPr>
                      <a:r>
                        <a:t>Manual operations</a:t>
                      </a:r>
                    </a:p>
                  </a:txBody>
                  <a:tcPr marL="91440" marR="91440" marT="45720" marB="45720">
                    <a:solidFill>
                      <a:srgbClr val="2D2D2D"/>
                    </a:solidFill>
                  </a:tcPr>
                </a:tc>
                <a:tc>
                  <a:txBody>
                    <a:bodyPr wrap="square"/>
                    <a:lstStyle/>
                    <a:p>
                      <a:pPr algn="l">
                        <a:defRPr sz="1400" b="1">
                          <a:solidFill>
                            <a:srgbClr val="FFFFFF"/>
                          </a:solidFill>
                          <a:latin typeface="Calibri"/>
                        </a:defRPr>
                      </a:pPr>
                      <a:r>
                        <a:t>Tech stack supported with AI</a:t>
                      </a:r>
                    </a:p>
                  </a:txBody>
                  <a:tcPr marL="91440" marR="91440" marT="45720" marB="45720">
                    <a:solidFill>
                      <a:srgbClr val="2D2D2D"/>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06</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TECH STACK ARCHITECTURE — CAPABILITY MAP</a:t>
            </a:r>
          </a:p>
        </p:txBody>
      </p:sp>
      <p:sp>
        <p:nvSpPr>
          <p:cNvPr id="4" name="TextBox 3"/>
          <p:cNvSpPr txBox="1"/>
          <p:nvPr/>
        </p:nvSpPr>
        <p:spPr>
          <a:xfrm>
            <a:off x="731520" y="1051560"/>
            <a:ext cx="8229600" cy="365760"/>
          </a:xfrm>
          <a:prstGeom prst="rect">
            <a:avLst/>
          </a:prstGeom>
          <a:noFill/>
        </p:spPr>
        <p:txBody>
          <a:bodyPr wrap="square"/>
          <a:lstStyle/>
          <a:p>
            <a:pPr algn="l">
              <a:defRPr sz="1500" b="0">
                <a:solidFill>
                  <a:srgbClr val="555555"/>
                </a:solidFill>
                <a:latin typeface="Calibri"/>
              </a:defRPr>
            </a:pPr>
            <a:r>
              <a:t>What Gold's needs technology for — independent of any vendor</a:t>
            </a:r>
          </a:p>
        </p:txBody>
      </p:sp>
      <p:sp>
        <p:nvSpPr>
          <p:cNvPr id="5" name="Rounded Rectangle 4"/>
          <p:cNvSpPr/>
          <p:nvPr/>
        </p:nvSpPr>
        <p:spPr>
          <a:xfrm>
            <a:off x="731520" y="1645920"/>
            <a:ext cx="10698480" cy="4389120"/>
          </a:xfrm>
          <a:prstGeom prst="roundRect">
            <a:avLst/>
          </a:prstGeom>
          <a:solidFill>
            <a:srgbClr val="F7F7F5"/>
          </a:solidFill>
          <a:ln w="254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0" y="4297680"/>
            <a:ext cx="3200400" cy="1097280"/>
          </a:xfrm>
          <a:prstGeom prst="roundRect">
            <a:avLst/>
          </a:prstGeom>
          <a:noFill/>
          <a:ln w="254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4343400"/>
            <a:ext cx="3017520" cy="365760"/>
          </a:xfrm>
          <a:prstGeom prst="rect">
            <a:avLst/>
          </a:prstGeom>
          <a:noFill/>
        </p:spPr>
        <p:txBody>
          <a:bodyPr wrap="square"/>
          <a:lstStyle/>
          <a:p>
            <a:pPr algn="ctr">
              <a:defRPr sz="1300" b="1">
                <a:solidFill>
                  <a:srgbClr val="1A1A1A"/>
                </a:solidFill>
                <a:latin typeface="Arial Black"/>
              </a:defRPr>
            </a:pPr>
            <a:r>
              <a:t>DATA &amp; ANALYTICS</a:t>
            </a:r>
          </a:p>
        </p:txBody>
      </p:sp>
      <p:sp>
        <p:nvSpPr>
          <p:cNvPr id="8" name="TextBox 7"/>
          <p:cNvSpPr txBox="1"/>
          <p:nvPr/>
        </p:nvSpPr>
        <p:spPr>
          <a:xfrm>
            <a:off x="5120640" y="4709160"/>
            <a:ext cx="3017520" cy="548640"/>
          </a:xfrm>
          <a:prstGeom prst="rect">
            <a:avLst/>
          </a:prstGeom>
          <a:noFill/>
        </p:spPr>
        <p:txBody>
          <a:bodyPr wrap="square"/>
          <a:lstStyle/>
          <a:p>
            <a:pPr algn="ctr">
              <a:defRPr sz="1000" b="0">
                <a:solidFill>
                  <a:srgbClr val="555555"/>
                </a:solidFill>
                <a:latin typeface="Calibri"/>
              </a:defRPr>
            </a:pPr>
            <a:r>
              <a:t>Data Lake  |  Transformation  |  BI  |  Fran Connect</a:t>
            </a:r>
          </a:p>
        </p:txBody>
      </p:sp>
      <p:sp>
        <p:nvSpPr>
          <p:cNvPr id="9" name="Rounded Rectangle 8"/>
          <p:cNvSpPr/>
          <p:nvPr/>
        </p:nvSpPr>
        <p:spPr>
          <a:xfrm>
            <a:off x="1371600" y="2286000"/>
            <a:ext cx="3200400" cy="1097280"/>
          </a:xfrm>
          <a:prstGeom prst="roundRect">
            <a:avLst/>
          </a:prstGeom>
          <a:noFill/>
          <a:ln w="254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2331720"/>
            <a:ext cx="3017520" cy="365760"/>
          </a:xfrm>
          <a:prstGeom prst="rect">
            <a:avLst/>
          </a:prstGeom>
          <a:noFill/>
        </p:spPr>
        <p:txBody>
          <a:bodyPr wrap="square"/>
          <a:lstStyle/>
          <a:p>
            <a:pPr algn="ctr">
              <a:defRPr sz="1300" b="1">
                <a:solidFill>
                  <a:srgbClr val="2D2D2D"/>
                </a:solidFill>
                <a:latin typeface="Arial Black"/>
              </a:defRPr>
            </a:pPr>
            <a:r>
              <a:t>SALES &amp; MARKETING</a:t>
            </a:r>
          </a:p>
        </p:txBody>
      </p:sp>
      <p:sp>
        <p:nvSpPr>
          <p:cNvPr id="11" name="TextBox 10"/>
          <p:cNvSpPr txBox="1"/>
          <p:nvPr/>
        </p:nvSpPr>
        <p:spPr>
          <a:xfrm>
            <a:off x="1463040" y="2697480"/>
            <a:ext cx="3017520" cy="548640"/>
          </a:xfrm>
          <a:prstGeom prst="rect">
            <a:avLst/>
          </a:prstGeom>
          <a:noFill/>
        </p:spPr>
        <p:txBody>
          <a:bodyPr wrap="square"/>
          <a:lstStyle/>
          <a:p>
            <a:pPr algn="ctr">
              <a:defRPr sz="1000" b="0">
                <a:solidFill>
                  <a:srgbClr val="555555"/>
                </a:solidFill>
                <a:latin typeface="Calibri"/>
              </a:defRPr>
            </a:pPr>
            <a:r>
              <a:t>CRM  |  CDP  |  Lead Mgmt  |  Marketing  |  Guest Pass</a:t>
            </a:r>
          </a:p>
        </p:txBody>
      </p:sp>
      <p:sp>
        <p:nvSpPr>
          <p:cNvPr id="12" name="Rounded Rectangle 11"/>
          <p:cNvSpPr/>
          <p:nvPr/>
        </p:nvSpPr>
        <p:spPr>
          <a:xfrm>
            <a:off x="1371600" y="5943600"/>
            <a:ext cx="3200400" cy="1097280"/>
          </a:xfrm>
          <a:prstGeom prst="roundRect">
            <a:avLst/>
          </a:prstGeom>
          <a:noFill/>
          <a:ln w="254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5989320"/>
            <a:ext cx="3017520" cy="365760"/>
          </a:xfrm>
          <a:prstGeom prst="rect">
            <a:avLst/>
          </a:prstGeom>
          <a:noFill/>
        </p:spPr>
        <p:txBody>
          <a:bodyPr wrap="square"/>
          <a:lstStyle/>
          <a:p>
            <a:pPr algn="ctr">
              <a:defRPr sz="1300" b="1">
                <a:solidFill>
                  <a:srgbClr val="2D2D2D"/>
                </a:solidFill>
                <a:latin typeface="Arial Black"/>
              </a:defRPr>
            </a:pPr>
            <a:r>
              <a:t>OPERATIONS</a:t>
            </a:r>
          </a:p>
        </p:txBody>
      </p:sp>
      <p:sp>
        <p:nvSpPr>
          <p:cNvPr id="14" name="TextBox 13"/>
          <p:cNvSpPr txBox="1"/>
          <p:nvPr/>
        </p:nvSpPr>
        <p:spPr>
          <a:xfrm>
            <a:off x="1463040" y="6355080"/>
            <a:ext cx="3017520" cy="548640"/>
          </a:xfrm>
          <a:prstGeom prst="rect">
            <a:avLst/>
          </a:prstGeom>
          <a:noFill/>
        </p:spPr>
        <p:txBody>
          <a:bodyPr wrap="square"/>
          <a:lstStyle/>
          <a:p>
            <a:pPr algn="ctr">
              <a:defRPr sz="1000" b="0">
                <a:solidFill>
                  <a:srgbClr val="555555"/>
                </a:solidFill>
                <a:latin typeface="Calibri"/>
              </a:defRPr>
            </a:pPr>
            <a:r>
              <a:t>Member Mgmt  |  POS  |  Scheduling  |  Staff  |  Gate  |  Inventory</a:t>
            </a:r>
          </a:p>
        </p:txBody>
      </p:sp>
      <p:sp>
        <p:nvSpPr>
          <p:cNvPr id="15" name="Rounded Rectangle 14"/>
          <p:cNvSpPr/>
          <p:nvPr/>
        </p:nvSpPr>
        <p:spPr>
          <a:xfrm>
            <a:off x="8229600" y="4114800"/>
            <a:ext cx="3200400" cy="1097280"/>
          </a:xfrm>
          <a:prstGeom prst="roundRect">
            <a:avLst/>
          </a:prstGeom>
          <a:noFill/>
          <a:ln w="254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160520"/>
            <a:ext cx="3017520" cy="365760"/>
          </a:xfrm>
          <a:prstGeom prst="rect">
            <a:avLst/>
          </a:prstGeom>
          <a:noFill/>
        </p:spPr>
        <p:txBody>
          <a:bodyPr wrap="square"/>
          <a:lstStyle/>
          <a:p>
            <a:pPr algn="ctr">
              <a:defRPr sz="1300" b="1">
                <a:solidFill>
                  <a:srgbClr val="2D2D2D"/>
                </a:solidFill>
                <a:latin typeface="Arial Black"/>
              </a:defRPr>
            </a:pPr>
            <a:r>
              <a:t>MEMBER EXPERIENCE</a:t>
            </a:r>
          </a:p>
        </p:txBody>
      </p:sp>
      <p:sp>
        <p:nvSpPr>
          <p:cNvPr id="17" name="TextBox 16"/>
          <p:cNvSpPr txBox="1"/>
          <p:nvPr/>
        </p:nvSpPr>
        <p:spPr>
          <a:xfrm>
            <a:off x="8321040" y="4526280"/>
            <a:ext cx="3017520" cy="548640"/>
          </a:xfrm>
          <a:prstGeom prst="rect">
            <a:avLst/>
          </a:prstGeom>
          <a:noFill/>
        </p:spPr>
        <p:txBody>
          <a:bodyPr wrap="square"/>
          <a:lstStyle/>
          <a:p>
            <a:pPr algn="ctr">
              <a:defRPr sz="1000" b="0">
                <a:solidFill>
                  <a:srgbClr val="555555"/>
                </a:solidFill>
                <a:latin typeface="Calibri"/>
              </a:defRPr>
            </a:pPr>
            <a:r>
              <a:t>App  |  Content  |  Digital Training  |  Recovery Booking</a:t>
            </a:r>
          </a:p>
        </p:txBody>
      </p:sp>
      <p:sp>
        <p:nvSpPr>
          <p:cNvPr id="18" name="TextBox 17"/>
          <p:cNvSpPr txBox="1"/>
          <p:nvPr/>
        </p:nvSpPr>
        <p:spPr>
          <a:xfrm>
            <a:off x="731520" y="6217920"/>
            <a:ext cx="10058400" cy="365760"/>
          </a:xfrm>
          <a:prstGeom prst="rect">
            <a:avLst/>
          </a:prstGeom>
          <a:noFill/>
        </p:spPr>
        <p:txBody>
          <a:bodyPr wrap="square"/>
          <a:lstStyle/>
          <a:p>
            <a:pPr algn="l">
              <a:defRPr sz="1000" b="1">
                <a:solidFill>
                  <a:srgbClr val="CC6600"/>
                </a:solidFill>
                <a:latin typeface="Calibri"/>
              </a:defRPr>
            </a:pPr>
            <a:r>
              <a:t>PLACEHOLDER: Replace with polished bubble chart from final report (environment-bubbles diagram). Do NOT name specific vendors.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07</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TECH STACK — OWN vs. VENDOR (RFI/RFP)</a:t>
            </a:r>
          </a:p>
        </p:txBody>
      </p:sp>
      <p:sp>
        <p:nvSpPr>
          <p:cNvPr id="4" name="Rounded Rectangle 3"/>
          <p:cNvSpPr/>
          <p:nvPr/>
        </p:nvSpPr>
        <p:spPr>
          <a:xfrm>
            <a:off x="1371600" y="1463040"/>
            <a:ext cx="9418320" cy="1371600"/>
          </a:xfrm>
          <a:prstGeom prst="roundRect">
            <a:avLst/>
          </a:prstGeom>
          <a:solidFill>
            <a:srgbClr val="FFFBEB"/>
          </a:solidFill>
          <a:ln w="381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508760"/>
            <a:ext cx="8961120" cy="365760"/>
          </a:xfrm>
          <a:prstGeom prst="rect">
            <a:avLst/>
          </a:prstGeom>
          <a:noFill/>
        </p:spPr>
        <p:txBody>
          <a:bodyPr wrap="square"/>
          <a:lstStyle/>
          <a:p>
            <a:pPr algn="ctr">
              <a:defRPr sz="1600" b="1">
                <a:solidFill>
                  <a:srgbClr val="E6A800"/>
                </a:solidFill>
                <a:latin typeface="Arial Black"/>
              </a:defRPr>
            </a:pPr>
            <a:r>
              <a:t>GOLD'S OWNS — MEMBER-FACING TOUCHPOINTS</a:t>
            </a:r>
          </a:p>
        </p:txBody>
      </p:sp>
      <p:sp>
        <p:nvSpPr>
          <p:cNvPr id="6" name="TextBox 5"/>
          <p:cNvSpPr txBox="1"/>
          <p:nvPr/>
        </p:nvSpPr>
        <p:spPr>
          <a:xfrm>
            <a:off x="1554480" y="1920240"/>
            <a:ext cx="8961120" cy="731520"/>
          </a:xfrm>
          <a:prstGeom prst="rect">
            <a:avLst/>
          </a:prstGeom>
          <a:noFill/>
        </p:spPr>
        <p:txBody>
          <a:bodyPr wrap="square"/>
          <a:lstStyle/>
          <a:p>
            <a:pPr algn="ctr">
              <a:defRPr sz="1400" b="0">
                <a:solidFill>
                  <a:srgbClr val="1A1A1A"/>
                </a:solidFill>
                <a:latin typeface="Calibri"/>
              </a:defRPr>
            </a:pPr>
            <a:r>
              <a:t>Mobile App  |  Member Portal  |  Franchise Dashboards  |  Corporate Website  |  Join Online</a:t>
            </a:r>
          </a:p>
        </p:txBody>
      </p:sp>
      <p:sp>
        <p:nvSpPr>
          <p:cNvPr id="7" name="Rounded Rectangle 6"/>
          <p:cNvSpPr/>
          <p:nvPr/>
        </p:nvSpPr>
        <p:spPr>
          <a:xfrm>
            <a:off x="1371600" y="3017520"/>
            <a:ext cx="9418320" cy="1371600"/>
          </a:xfrm>
          <a:prstGeom prst="roundRect">
            <a:avLst/>
          </a:prstGeom>
          <a:solidFill>
            <a:srgbClr val="F2C23E"/>
          </a:solidFill>
          <a:ln w="381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3063240"/>
            <a:ext cx="8961120" cy="365760"/>
          </a:xfrm>
          <a:prstGeom prst="rect">
            <a:avLst/>
          </a:prstGeom>
          <a:noFill/>
        </p:spPr>
        <p:txBody>
          <a:bodyPr wrap="square"/>
          <a:lstStyle/>
          <a:p>
            <a:pPr algn="ctr">
              <a:defRPr sz="1600" b="1">
                <a:solidFill>
                  <a:srgbClr val="1A1A1A"/>
                </a:solidFill>
                <a:latin typeface="Arial Black"/>
              </a:defRPr>
            </a:pPr>
            <a:r>
              <a:t>GOLD'S OWNS — DATA &amp; INTELLIGENCE LAYER</a:t>
            </a:r>
          </a:p>
        </p:txBody>
      </p:sp>
      <p:sp>
        <p:nvSpPr>
          <p:cNvPr id="9" name="TextBox 8"/>
          <p:cNvSpPr txBox="1"/>
          <p:nvPr/>
        </p:nvSpPr>
        <p:spPr>
          <a:xfrm>
            <a:off x="1554480" y="3474720"/>
            <a:ext cx="8961120" cy="731520"/>
          </a:xfrm>
          <a:prstGeom prst="rect">
            <a:avLst/>
          </a:prstGeom>
          <a:noFill/>
        </p:spPr>
        <p:txBody>
          <a:bodyPr wrap="square"/>
          <a:lstStyle/>
          <a:p>
            <a:pPr algn="ctr">
              <a:defRPr sz="1400" b="0">
                <a:solidFill>
                  <a:srgbClr val="2D2D2D"/>
                </a:solidFill>
                <a:latin typeface="Calibri"/>
              </a:defRPr>
            </a:pPr>
            <a:r>
              <a:t>Unified Data Model  |  Analytics &amp; BI  |  AI / Automation  |  Open API  |  Middleware</a:t>
            </a:r>
          </a:p>
        </p:txBody>
      </p:sp>
      <p:sp>
        <p:nvSpPr>
          <p:cNvPr id="10" name="Rounded Rectangle 9"/>
          <p:cNvSpPr/>
          <p:nvPr/>
        </p:nvSpPr>
        <p:spPr>
          <a:xfrm>
            <a:off x="1371600" y="4572000"/>
            <a:ext cx="9418320" cy="1371600"/>
          </a:xfrm>
          <a:prstGeom prst="roundRect">
            <a:avLst/>
          </a:prstGeom>
          <a:solidFill>
            <a:srgbClr val="F7F7F5"/>
          </a:solidFill>
          <a:ln w="254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4617720"/>
            <a:ext cx="8961120" cy="365760"/>
          </a:xfrm>
          <a:prstGeom prst="rect">
            <a:avLst/>
          </a:prstGeom>
          <a:noFill/>
        </p:spPr>
        <p:txBody>
          <a:bodyPr wrap="square"/>
          <a:lstStyle/>
          <a:p>
            <a:pPr algn="ctr">
              <a:defRPr sz="1600" b="1">
                <a:solidFill>
                  <a:srgbClr val="555555"/>
                </a:solidFill>
                <a:latin typeface="Arial Black"/>
              </a:defRPr>
            </a:pPr>
            <a:r>
              <a:t>VENDOR SYSTEMS OF RECORD  —  RFI / RFP</a:t>
            </a:r>
          </a:p>
        </p:txBody>
      </p:sp>
      <p:sp>
        <p:nvSpPr>
          <p:cNvPr id="12" name="TextBox 11"/>
          <p:cNvSpPr txBox="1"/>
          <p:nvPr/>
        </p:nvSpPr>
        <p:spPr>
          <a:xfrm>
            <a:off x="1554480" y="5029200"/>
            <a:ext cx="8961120" cy="731520"/>
          </a:xfrm>
          <a:prstGeom prst="rect">
            <a:avLst/>
          </a:prstGeom>
          <a:noFill/>
        </p:spPr>
        <p:txBody>
          <a:bodyPr wrap="square"/>
          <a:lstStyle/>
          <a:p>
            <a:pPr algn="ctr">
              <a:defRPr sz="1400" b="0">
                <a:solidFill>
                  <a:srgbClr val="555555"/>
                </a:solidFill>
                <a:latin typeface="Calibri"/>
              </a:defRPr>
            </a:pPr>
            <a:r>
              <a:t>Core Gym Mgmt  |  CRM  |  Fitness/PT  |  Access Control  |  POS/Billing  |  Group Exercise</a:t>
            </a:r>
          </a:p>
        </p:txBody>
      </p:sp>
      <p:sp>
        <p:nvSpPr>
          <p:cNvPr id="13" name="Down Arrow 12"/>
          <p:cNvSpPr/>
          <p:nvPr/>
        </p:nvSpPr>
        <p:spPr>
          <a:xfrm>
            <a:off x="5852160" y="2834640"/>
            <a:ext cx="457200" cy="228600"/>
          </a:xfrm>
          <a:prstGeom prst="downArrow">
            <a:avLst/>
          </a:prstGeom>
          <a:solidFill>
            <a:srgbClr val="E6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5852160" y="4389120"/>
            <a:ext cx="457200" cy="228600"/>
          </a:xfrm>
          <a:prstGeom prst="downArrow">
            <a:avLst/>
          </a:prstGeom>
          <a:solidFill>
            <a:srgbClr val="E6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6126480"/>
            <a:ext cx="9144000" cy="457200"/>
          </a:xfrm>
          <a:prstGeom prst="rect">
            <a:avLst/>
          </a:prstGeom>
          <a:noFill/>
        </p:spPr>
        <p:txBody>
          <a:bodyPr wrap="square"/>
          <a:lstStyle/>
          <a:p>
            <a:pPr algn="ctr">
              <a:defRPr sz="1400" b="1">
                <a:solidFill>
                  <a:srgbClr val="1A1A1A"/>
                </a:solidFill>
                <a:latin typeface="Calibri"/>
              </a:defRPr>
            </a:pPr>
            <a:r>
              <a:t>"Own the brain (data + experience). Vendors provide the arms and legs."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08</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TECHNOLOGY TIED TO AMENITIES</a:t>
            </a:r>
          </a:p>
        </p:txBody>
      </p:sp>
      <p:sp>
        <p:nvSpPr>
          <p:cNvPr id="4" name="TextBox 3"/>
          <p:cNvSpPr txBox="1"/>
          <p:nvPr/>
        </p:nvSpPr>
        <p:spPr>
          <a:xfrm>
            <a:off x="731520" y="1051560"/>
            <a:ext cx="8229600" cy="365760"/>
          </a:xfrm>
          <a:prstGeom prst="rect">
            <a:avLst/>
          </a:prstGeom>
          <a:noFill/>
        </p:spPr>
        <p:txBody>
          <a:bodyPr wrap="square"/>
          <a:lstStyle/>
          <a:p>
            <a:pPr algn="l">
              <a:defRPr sz="1500" b="0">
                <a:solidFill>
                  <a:srgbClr val="555555"/>
                </a:solidFill>
                <a:latin typeface="Calibri"/>
              </a:defRPr>
            </a:pPr>
            <a:r>
              <a:t>Every amenity in the gym needs technology behind it</a:t>
            </a:r>
          </a:p>
        </p:txBody>
      </p:sp>
      <p:graphicFrame>
        <p:nvGraphicFramePr>
          <p:cNvPr id="5" name="Table 4"/>
          <p:cNvGraphicFramePr>
            <a:graphicFrameLocks noGrp="1"/>
          </p:cNvGraphicFramePr>
          <p:nvPr/>
        </p:nvGraphicFramePr>
        <p:xfrm>
          <a:off x="731520" y="1645920"/>
          <a:ext cx="10698480" cy="4754880"/>
        </p:xfrm>
        <a:graphic>
          <a:graphicData uri="http://schemas.openxmlformats.org/drawingml/2006/table">
            <a:tbl>
              <a:tblPr firstRow="1" bandRow="1">
                <a:tableStyleId>{5C22544A-7EE6-4342-B048-85BDC9FD1C3A}</a:tableStyleId>
              </a:tblPr>
              <a:tblGrid>
                <a:gridCol w="3840480"/>
                <a:gridCol w="6858000"/>
              </a:tblGrid>
              <a:tr h="528320">
                <a:tc>
                  <a:txBody>
                    <a:bodyPr wrap="square"/>
                    <a:lstStyle/>
                    <a:p>
                      <a:pPr algn="l">
                        <a:defRPr sz="1300" b="1">
                          <a:solidFill>
                            <a:srgbClr val="FFFFFF"/>
                          </a:solidFill>
                          <a:latin typeface="Arial Black"/>
                        </a:defRPr>
                      </a:pPr>
                      <a:r>
                        <a:t>AMENITY</a:t>
                      </a:r>
                    </a:p>
                  </a:txBody>
                  <a:tcPr marL="91440" marR="91440" marT="45720" marB="45720">
                    <a:solidFill>
                      <a:srgbClr val="1A1A1A"/>
                    </a:solidFill>
                  </a:tcPr>
                </a:tc>
                <a:tc>
                  <a:txBody>
                    <a:bodyPr wrap="square"/>
                    <a:lstStyle/>
                    <a:p>
                      <a:pPr algn="l">
                        <a:defRPr sz="1300" b="1">
                          <a:solidFill>
                            <a:srgbClr val="FFFFFF"/>
                          </a:solidFill>
                          <a:latin typeface="Arial Black"/>
                        </a:defRPr>
                      </a:pPr>
                      <a:r>
                        <a:t>TECHNOLOGY REQUIRED</a:t>
                      </a:r>
                    </a:p>
                  </a:txBody>
                  <a:tcPr marL="91440" marR="91440" marT="45720" marB="45720">
                    <a:solidFill>
                      <a:srgbClr val="1A1A1A"/>
                    </a:solidFill>
                  </a:tcPr>
                </a:tc>
              </a:tr>
              <a:tr h="528320">
                <a:tc>
                  <a:txBody>
                    <a:bodyPr wrap="square"/>
                    <a:lstStyle/>
                    <a:p>
                      <a:pPr algn="l">
                        <a:defRPr sz="1200" b="1">
                          <a:solidFill>
                            <a:srgbClr val="1A1A1A"/>
                          </a:solidFill>
                          <a:latin typeface="Arial Black"/>
                        </a:defRPr>
                      </a:pPr>
                      <a:r>
                        <a:t>Free Weights / Strength Floor</a:t>
                      </a:r>
                    </a:p>
                  </a:txBody>
                  <a:tcPr marL="91440" marR="91440" marT="45720" marB="45720">
                    <a:solidFill>
                      <a:srgbClr val="FFFFFF"/>
                    </a:solidFill>
                  </a:tcPr>
                </a:tc>
                <a:tc>
                  <a:txBody>
                    <a:bodyPr wrap="square"/>
                    <a:lstStyle/>
                    <a:p>
                      <a:pPr algn="l">
                        <a:defRPr sz="1200" b="0">
                          <a:solidFill>
                            <a:srgbClr val="1A1A1A"/>
                          </a:solidFill>
                          <a:latin typeface="Calibri"/>
                        </a:defRPr>
                      </a:pPr>
                      <a:r>
                        <a:t>Gate access, member check-in, occupancy tracking</a:t>
                      </a:r>
                    </a:p>
                  </a:txBody>
                  <a:tcPr marL="91440" marR="91440" marT="45720" marB="45720">
                    <a:solidFill>
                      <a:srgbClr val="FFFFFF"/>
                    </a:solidFill>
                  </a:tcPr>
                </a:tc>
              </a:tr>
              <a:tr h="528320">
                <a:tc>
                  <a:txBody>
                    <a:bodyPr wrap="square"/>
                    <a:lstStyle/>
                    <a:p>
                      <a:pPr algn="l">
                        <a:defRPr sz="1200" b="1">
                          <a:solidFill>
                            <a:srgbClr val="1A1A1A"/>
                          </a:solidFill>
                          <a:latin typeface="Arial Black"/>
                        </a:defRPr>
                      </a:pPr>
                      <a:r>
                        <a:t>Performance Turf / HYROX</a:t>
                      </a:r>
                    </a:p>
                  </a:txBody>
                  <a:tcPr marL="91440" marR="91440" marT="45720" marB="45720">
                    <a:solidFill>
                      <a:srgbClr val="F7F7F5"/>
                    </a:solidFill>
                  </a:tcPr>
                </a:tc>
                <a:tc>
                  <a:txBody>
                    <a:bodyPr wrap="square"/>
                    <a:lstStyle/>
                    <a:p>
                      <a:pPr algn="l">
                        <a:defRPr sz="1200" b="0">
                          <a:solidFill>
                            <a:srgbClr val="1A1A1A"/>
                          </a:solidFill>
                          <a:latin typeface="Calibri"/>
                        </a:defRPr>
                      </a:pPr>
                      <a:r>
                        <a:t>Class scheduling, booking, performance tracking</a:t>
                      </a:r>
                    </a:p>
                  </a:txBody>
                  <a:tcPr marL="91440" marR="91440" marT="45720" marB="45720">
                    <a:solidFill>
                      <a:srgbClr val="F7F7F5"/>
                    </a:solidFill>
                  </a:tcPr>
                </a:tc>
              </a:tr>
              <a:tr h="528320">
                <a:tc>
                  <a:txBody>
                    <a:bodyPr wrap="square"/>
                    <a:lstStyle/>
                    <a:p>
                      <a:pPr algn="l">
                        <a:defRPr sz="1200" b="1">
                          <a:solidFill>
                            <a:srgbClr val="1A1A1A"/>
                          </a:solidFill>
                          <a:latin typeface="Arial Black"/>
                        </a:defRPr>
                      </a:pPr>
                      <a:r>
                        <a:t>Small Group Studio</a:t>
                      </a:r>
                    </a:p>
                  </a:txBody>
                  <a:tcPr marL="91440" marR="91440" marT="45720" marB="45720">
                    <a:solidFill>
                      <a:srgbClr val="FFFFFF"/>
                    </a:solidFill>
                  </a:tcPr>
                </a:tc>
                <a:tc>
                  <a:txBody>
                    <a:bodyPr wrap="square"/>
                    <a:lstStyle/>
                    <a:p>
                      <a:pPr algn="l">
                        <a:defRPr sz="1200" b="0">
                          <a:solidFill>
                            <a:srgbClr val="1A1A1A"/>
                          </a:solidFill>
                          <a:latin typeface="Calibri"/>
                        </a:defRPr>
                      </a:pPr>
                      <a:r>
                        <a:t>Class management, instructor scheduling, waitlists</a:t>
                      </a:r>
                    </a:p>
                  </a:txBody>
                  <a:tcPr marL="91440" marR="91440" marT="45720" marB="45720">
                    <a:solidFill>
                      <a:srgbClr val="FFFFFF"/>
                    </a:solidFill>
                  </a:tcPr>
                </a:tc>
              </a:tr>
              <a:tr h="528320">
                <a:tc>
                  <a:txBody>
                    <a:bodyPr wrap="square"/>
                    <a:lstStyle/>
                    <a:p>
                      <a:pPr algn="l">
                        <a:defRPr sz="1200" b="1">
                          <a:solidFill>
                            <a:srgbClr val="1A1A1A"/>
                          </a:solidFill>
                          <a:latin typeface="Arial Black"/>
                        </a:defRPr>
                      </a:pPr>
                      <a:r>
                        <a:t>Recovery &amp; Biohacking Suite</a:t>
                      </a:r>
                    </a:p>
                  </a:txBody>
                  <a:tcPr marL="91440" marR="91440" marT="45720" marB="45720">
                    <a:solidFill>
                      <a:srgbClr val="F7F7F5"/>
                    </a:solidFill>
                  </a:tcPr>
                </a:tc>
                <a:tc>
                  <a:txBody>
                    <a:bodyPr wrap="square"/>
                    <a:lstStyle/>
                    <a:p>
                      <a:pPr algn="l">
                        <a:defRPr sz="1200" b="0">
                          <a:solidFill>
                            <a:srgbClr val="1A1A1A"/>
                          </a:solidFill>
                          <a:latin typeface="Calibri"/>
                        </a:defRPr>
                      </a:pPr>
                      <a:r>
                        <a:t>Tier-based access control, booking, session tracking</a:t>
                      </a:r>
                    </a:p>
                  </a:txBody>
                  <a:tcPr marL="91440" marR="91440" marT="45720" marB="45720">
                    <a:solidFill>
                      <a:srgbClr val="F7F7F5"/>
                    </a:solidFill>
                  </a:tcPr>
                </a:tc>
              </a:tr>
              <a:tr h="528320">
                <a:tc>
                  <a:txBody>
                    <a:bodyPr wrap="square"/>
                    <a:lstStyle/>
                    <a:p>
                      <a:pPr algn="l">
                        <a:defRPr sz="1200" b="1">
                          <a:solidFill>
                            <a:srgbClr val="1A1A1A"/>
                          </a:solidFill>
                          <a:latin typeface="Arial Black"/>
                        </a:defRPr>
                      </a:pPr>
                      <a:r>
                        <a:t>Gold's Gym Posing Room</a:t>
                      </a:r>
                    </a:p>
                  </a:txBody>
                  <a:tcPr marL="91440" marR="91440" marT="45720" marB="45720">
                    <a:solidFill>
                      <a:srgbClr val="FFFFFF"/>
                    </a:solidFill>
                  </a:tcPr>
                </a:tc>
                <a:tc>
                  <a:txBody>
                    <a:bodyPr wrap="square"/>
                    <a:lstStyle/>
                    <a:p>
                      <a:pPr algn="l">
                        <a:defRPr sz="1200" b="0">
                          <a:solidFill>
                            <a:srgbClr val="1A1A1A"/>
                          </a:solidFill>
                          <a:latin typeface="Calibri"/>
                        </a:defRPr>
                      </a:pPr>
                      <a:r>
                        <a:t>Reservation system, content/camera integration</a:t>
                      </a:r>
                    </a:p>
                  </a:txBody>
                  <a:tcPr marL="91440" marR="91440" marT="45720" marB="45720">
                    <a:solidFill>
                      <a:srgbClr val="FFFFFF"/>
                    </a:solidFill>
                  </a:tcPr>
                </a:tc>
              </a:tr>
              <a:tr h="528320">
                <a:tc>
                  <a:txBody>
                    <a:bodyPr wrap="square"/>
                    <a:lstStyle/>
                    <a:p>
                      <a:pPr algn="l">
                        <a:defRPr sz="1200" b="1">
                          <a:solidFill>
                            <a:srgbClr val="1A1A1A"/>
                          </a:solidFill>
                          <a:latin typeface="Arial Black"/>
                        </a:defRPr>
                      </a:pPr>
                      <a:r>
                        <a:t>Content-Enabled Zones</a:t>
                      </a:r>
                    </a:p>
                  </a:txBody>
                  <a:tcPr marL="91440" marR="91440" marT="45720" marB="45720">
                    <a:solidFill>
                      <a:srgbClr val="F7F7F5"/>
                    </a:solidFill>
                  </a:tcPr>
                </a:tc>
                <a:tc>
                  <a:txBody>
                    <a:bodyPr wrap="square"/>
                    <a:lstStyle/>
                    <a:p>
                      <a:pPr algn="l">
                        <a:defRPr sz="1200" b="0">
                          <a:solidFill>
                            <a:srgbClr val="1A1A1A"/>
                          </a:solidFill>
                          <a:latin typeface="Calibri"/>
                        </a:defRPr>
                      </a:pPr>
                      <a:r>
                        <a:t>Creator tools, social integration, lighting controls</a:t>
                      </a:r>
                    </a:p>
                  </a:txBody>
                  <a:tcPr marL="91440" marR="91440" marT="45720" marB="45720">
                    <a:solidFill>
                      <a:srgbClr val="F7F7F5"/>
                    </a:solidFill>
                  </a:tcPr>
                </a:tc>
              </a:tr>
              <a:tr h="528320">
                <a:tc>
                  <a:txBody>
                    <a:bodyPr wrap="square"/>
                    <a:lstStyle/>
                    <a:p>
                      <a:pPr algn="l">
                        <a:defRPr sz="1200" b="1">
                          <a:solidFill>
                            <a:srgbClr val="1A1A1A"/>
                          </a:solidFill>
                          <a:latin typeface="Arial Black"/>
                        </a:defRPr>
                      </a:pPr>
                      <a:r>
                        <a:t>Precision Health &amp; Nutrition</a:t>
                      </a:r>
                    </a:p>
                  </a:txBody>
                  <a:tcPr marL="91440" marR="91440" marT="45720" marB="45720">
                    <a:solidFill>
                      <a:srgbClr val="FFFFFF"/>
                    </a:solidFill>
                  </a:tcPr>
                </a:tc>
                <a:tc>
                  <a:txBody>
                    <a:bodyPr wrap="square"/>
                    <a:lstStyle/>
                    <a:p>
                      <a:pPr algn="l">
                        <a:defRPr sz="1200" b="0">
                          <a:solidFill>
                            <a:srgbClr val="1A1A1A"/>
                          </a:solidFill>
                          <a:latin typeface="Calibri"/>
                        </a:defRPr>
                      </a:pPr>
                      <a:r>
                        <a:t>POS, inventory, member account linking, supplement/peptide tracking</a:t>
                      </a:r>
                    </a:p>
                  </a:txBody>
                  <a:tcPr marL="91440" marR="91440" marT="45720" marB="45720">
                    <a:solidFill>
                      <a:srgbClr val="FFFFFF"/>
                    </a:solidFill>
                  </a:tcPr>
                </a:tc>
              </a:tr>
              <a:tr h="528320">
                <a:tc>
                  <a:txBody>
                    <a:bodyPr wrap="square"/>
                    <a:lstStyle/>
                    <a:p>
                      <a:pPr algn="l">
                        <a:defRPr sz="1200" b="1">
                          <a:solidFill>
                            <a:srgbClr val="1A1A1A"/>
                          </a:solidFill>
                          <a:latin typeface="Arial Black"/>
                        </a:defRPr>
                      </a:pPr>
                      <a:r>
                        <a:t>Digital Training</a:t>
                      </a:r>
                    </a:p>
                  </a:txBody>
                  <a:tcPr marL="91440" marR="91440" marT="45720" marB="45720">
                    <a:solidFill>
                      <a:srgbClr val="F7F7F5"/>
                    </a:solidFill>
                  </a:tcPr>
                </a:tc>
                <a:tc>
                  <a:txBody>
                    <a:bodyPr wrap="square"/>
                    <a:lstStyle/>
                    <a:p>
                      <a:pPr algn="l">
                        <a:defRPr sz="1200" b="0">
                          <a:solidFill>
                            <a:srgbClr val="1A1A1A"/>
                          </a:solidFill>
                          <a:latin typeface="Calibri"/>
                        </a:defRPr>
                      </a:pPr>
                      <a:r>
                        <a:t>App delivery, workout programming, AI coaching, performance data</a:t>
                      </a:r>
                    </a:p>
                  </a:txBody>
                  <a:tcPr marL="91440" marR="91440" marT="45720" marB="45720">
                    <a:solidFill>
                      <a:srgbClr val="F7F7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09</a:t>
            </a:r>
          </a:p>
        </p:txBody>
      </p:sp>
      <p:sp>
        <p:nvSpPr>
          <p:cNvPr id="3" name="TextBox 2"/>
          <p:cNvSpPr txBox="1"/>
          <p:nvPr/>
        </p:nvSpPr>
        <p:spPr>
          <a:xfrm>
            <a:off x="731520" y="548640"/>
            <a:ext cx="10058400" cy="640080"/>
          </a:xfrm>
          <a:prstGeom prst="rect">
            <a:avLst/>
          </a:prstGeom>
          <a:noFill/>
        </p:spPr>
        <p:txBody>
          <a:bodyPr wrap="square"/>
          <a:lstStyle/>
          <a:p>
            <a:pPr algn="l">
              <a:defRPr sz="2800" b="1">
                <a:solidFill>
                  <a:srgbClr val="F2C23E"/>
                </a:solidFill>
                <a:latin typeface="Arial Black"/>
              </a:defRPr>
            </a:pPr>
            <a:r>
              <a:t>MARKET CONTEXT &amp; COMPETITIVE POSITIONING</a:t>
            </a:r>
          </a:p>
        </p:txBody>
      </p:sp>
      <p:sp>
        <p:nvSpPr>
          <p:cNvPr id="4" name="Rounded Rectangle 3"/>
          <p:cNvSpPr/>
          <p:nvPr/>
        </p:nvSpPr>
        <p:spPr>
          <a:xfrm>
            <a:off x="731520" y="1371600"/>
            <a:ext cx="10698480" cy="640080"/>
          </a:xfrm>
          <a:prstGeom prst="roundRect">
            <a:avLst/>
          </a:prstGeom>
          <a:solidFill>
            <a:srgbClr val="2D2D2D"/>
          </a:solidFill>
          <a:ln w="12700">
            <a:solidFill>
              <a:srgbClr val="E6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914400" cy="365760"/>
          </a:xfrm>
          <a:prstGeom prst="rect">
            <a:avLst/>
          </a:prstGeom>
          <a:noFill/>
        </p:spPr>
        <p:txBody>
          <a:bodyPr wrap="square"/>
          <a:lstStyle/>
          <a:p>
            <a:pPr algn="ctr">
              <a:defRPr sz="2200" b="1">
                <a:solidFill>
                  <a:srgbClr val="F2C23E"/>
                </a:solidFill>
                <a:latin typeface="Arial Black"/>
              </a:defRPr>
            </a:pPr>
            <a:r>
              <a:t>7</a:t>
            </a:r>
          </a:p>
        </p:txBody>
      </p:sp>
      <p:sp>
        <p:nvSpPr>
          <p:cNvPr id="6" name="TextBox 5"/>
          <p:cNvSpPr txBox="1"/>
          <p:nvPr/>
        </p:nvSpPr>
        <p:spPr>
          <a:xfrm>
            <a:off x="914400" y="1691640"/>
            <a:ext cx="1828800" cy="274320"/>
          </a:xfrm>
          <a:prstGeom prst="rect">
            <a:avLst/>
          </a:prstGeom>
          <a:noFill/>
        </p:spPr>
        <p:txBody>
          <a:bodyPr wrap="square"/>
          <a:lstStyle/>
          <a:p>
            <a:pPr algn="ctr">
              <a:defRPr sz="1000" b="0">
                <a:solidFill>
                  <a:srgbClr val="555555"/>
                </a:solidFill>
                <a:latin typeface="Calibri"/>
              </a:defRPr>
            </a:pPr>
            <a:r>
              <a:t>BRANDS ANALYZED</a:t>
            </a:r>
          </a:p>
        </p:txBody>
      </p:sp>
      <p:sp>
        <p:nvSpPr>
          <p:cNvPr id="7" name="TextBox 6"/>
          <p:cNvSpPr txBox="1"/>
          <p:nvPr/>
        </p:nvSpPr>
        <p:spPr>
          <a:xfrm>
            <a:off x="5029200" y="1371600"/>
            <a:ext cx="914400" cy="365760"/>
          </a:xfrm>
          <a:prstGeom prst="rect">
            <a:avLst/>
          </a:prstGeom>
          <a:noFill/>
        </p:spPr>
        <p:txBody>
          <a:bodyPr wrap="square"/>
          <a:lstStyle/>
          <a:p>
            <a:pPr algn="ctr">
              <a:defRPr sz="2200" b="1">
                <a:solidFill>
                  <a:srgbClr val="F2C23E"/>
                </a:solidFill>
                <a:latin typeface="Arial Black"/>
              </a:defRPr>
            </a:pPr>
            <a:r>
              <a:t>13</a:t>
            </a:r>
          </a:p>
        </p:txBody>
      </p:sp>
      <p:sp>
        <p:nvSpPr>
          <p:cNvPr id="8" name="TextBox 7"/>
          <p:cNvSpPr txBox="1"/>
          <p:nvPr/>
        </p:nvSpPr>
        <p:spPr>
          <a:xfrm>
            <a:off x="4572000" y="1691640"/>
            <a:ext cx="1828800" cy="274320"/>
          </a:xfrm>
          <a:prstGeom prst="rect">
            <a:avLst/>
          </a:prstGeom>
          <a:noFill/>
        </p:spPr>
        <p:txBody>
          <a:bodyPr wrap="square"/>
          <a:lstStyle/>
          <a:p>
            <a:pPr algn="ctr">
              <a:defRPr sz="1000" b="0">
                <a:solidFill>
                  <a:srgbClr val="555555"/>
                </a:solidFill>
                <a:latin typeface="Calibri"/>
              </a:defRPr>
            </a:pPr>
            <a:r>
              <a:t>TECH CATEGORIES</a:t>
            </a:r>
          </a:p>
        </p:txBody>
      </p:sp>
      <p:sp>
        <p:nvSpPr>
          <p:cNvPr id="9" name="TextBox 8"/>
          <p:cNvSpPr txBox="1"/>
          <p:nvPr/>
        </p:nvSpPr>
        <p:spPr>
          <a:xfrm>
            <a:off x="8686800" y="1371600"/>
            <a:ext cx="914400" cy="365760"/>
          </a:xfrm>
          <a:prstGeom prst="rect">
            <a:avLst/>
          </a:prstGeom>
          <a:noFill/>
        </p:spPr>
        <p:txBody>
          <a:bodyPr wrap="square"/>
          <a:lstStyle/>
          <a:p>
            <a:pPr algn="ctr">
              <a:defRPr sz="2200" b="1">
                <a:solidFill>
                  <a:srgbClr val="F2C23E"/>
                </a:solidFill>
                <a:latin typeface="Arial Black"/>
              </a:defRPr>
            </a:pPr>
            <a:r>
              <a:t>91</a:t>
            </a:r>
          </a:p>
        </p:txBody>
      </p:sp>
      <p:sp>
        <p:nvSpPr>
          <p:cNvPr id="10" name="TextBox 9"/>
          <p:cNvSpPr txBox="1"/>
          <p:nvPr/>
        </p:nvSpPr>
        <p:spPr>
          <a:xfrm>
            <a:off x="8229600" y="1691640"/>
            <a:ext cx="1828800" cy="274320"/>
          </a:xfrm>
          <a:prstGeom prst="rect">
            <a:avLst/>
          </a:prstGeom>
          <a:noFill/>
        </p:spPr>
        <p:txBody>
          <a:bodyPr wrap="square"/>
          <a:lstStyle/>
          <a:p>
            <a:pPr algn="ctr">
              <a:defRPr sz="1000" b="0">
                <a:solidFill>
                  <a:srgbClr val="555555"/>
                </a:solidFill>
                <a:latin typeface="Calibri"/>
              </a:defRPr>
            </a:pPr>
            <a:r>
              <a:t>DATA POINTS</a:t>
            </a:r>
          </a:p>
        </p:txBody>
      </p:sp>
      <p:sp>
        <p:nvSpPr>
          <p:cNvPr id="11" name="TextBox 10"/>
          <p:cNvSpPr txBox="1"/>
          <p:nvPr/>
        </p:nvSpPr>
        <p:spPr>
          <a:xfrm>
            <a:off x="731520" y="2377440"/>
            <a:ext cx="5029200" cy="365760"/>
          </a:xfrm>
          <a:prstGeom prst="rect">
            <a:avLst/>
          </a:prstGeom>
          <a:noFill/>
        </p:spPr>
        <p:txBody>
          <a:bodyPr wrap="square"/>
          <a:lstStyle/>
          <a:p>
            <a:pPr algn="l">
              <a:defRPr sz="1400" b="1">
                <a:solidFill>
                  <a:srgbClr val="FFFFFF"/>
                </a:solidFill>
                <a:latin typeface="Arial Black"/>
              </a:defRPr>
            </a:pPr>
            <a:r>
              <a:t>PREMIUM / PERFORMANCE BRANDS</a:t>
            </a:r>
          </a:p>
        </p:txBody>
      </p:sp>
      <p:sp>
        <p:nvSpPr>
          <p:cNvPr id="12" name="TextBox 11"/>
          <p:cNvSpPr txBox="1"/>
          <p:nvPr/>
        </p:nvSpPr>
        <p:spPr>
          <a:xfrm>
            <a:off x="731520" y="2743200"/>
            <a:ext cx="5029200" cy="2286000"/>
          </a:xfrm>
          <a:prstGeom prst="rect">
            <a:avLst/>
          </a:prstGeom>
          <a:noFill/>
        </p:spPr>
        <p:txBody>
          <a:bodyPr wrap="square"/>
          <a:lstStyle/>
          <a:p>
            <a:pPr algn="l">
              <a:spcBef>
                <a:spcPts val="600"/>
              </a:spcBef>
              <a:defRPr sz="1300" b="0">
                <a:solidFill>
                  <a:srgbClr val="CCCCCC"/>
                </a:solidFill>
                <a:latin typeface="Calibri"/>
              </a:defRPr>
            </a:pPr>
            <a:r>
              <a:t>Equinox — App-first, data-driven, unified experience</a:t>
            </a:r>
          </a:p>
          <a:p>
            <a:pPr>
              <a:spcBef>
                <a:spcPts val="600"/>
              </a:spcBef>
              <a:defRPr sz="1300">
                <a:solidFill>
                  <a:srgbClr val="CCCCCC"/>
                </a:solidFill>
                <a:latin typeface="Calibri"/>
              </a:defRPr>
            </a:pPr>
            <a:r>
              <a:t>Life Time — Integrated platform, member ecosystem</a:t>
            </a:r>
          </a:p>
          <a:p>
            <a:pPr>
              <a:spcBef>
                <a:spcPts val="600"/>
              </a:spcBef>
              <a:defRPr sz="1300">
                <a:solidFill>
                  <a:srgbClr val="CCCCCC"/>
                </a:solidFill>
                <a:latin typeface="Calibri"/>
              </a:defRPr>
            </a:pPr>
            <a:r>
              <a:t>F45 — Franchise tech standard, unified ops</a:t>
            </a:r>
          </a:p>
          <a:p>
            <a:pPr>
              <a:spcBef>
                <a:spcPts val="600"/>
              </a:spcBef>
              <a:defRPr sz="1300">
                <a:solidFill>
                  <a:srgbClr val="CCCCCC"/>
                </a:solidFill>
                <a:latin typeface="Calibri"/>
              </a:defRPr>
            </a:pPr>
            <a:r>
              <a:t>Barry's — Booking-first, class-centric model</a:t>
            </a:r>
          </a:p>
          <a:p>
            <a:pPr>
              <a:spcBef>
                <a:spcPts val="600"/>
              </a:spcBef>
              <a:defRPr sz="1300">
                <a:solidFill>
                  <a:srgbClr val="CCCCCC"/>
                </a:solidFill>
                <a:latin typeface="Calibri"/>
              </a:defRPr>
            </a:pPr>
            <a:r>
              <a:t>Orangetheory — Wearable-integrated, performance data</a:t>
            </a:r>
          </a:p>
        </p:txBody>
      </p:sp>
      <p:sp>
        <p:nvSpPr>
          <p:cNvPr id="13" name="TextBox 12"/>
          <p:cNvSpPr txBox="1"/>
          <p:nvPr/>
        </p:nvSpPr>
        <p:spPr>
          <a:xfrm>
            <a:off x="6400800" y="2377440"/>
            <a:ext cx="4572000" cy="365760"/>
          </a:xfrm>
          <a:prstGeom prst="rect">
            <a:avLst/>
          </a:prstGeom>
          <a:noFill/>
        </p:spPr>
        <p:txBody>
          <a:bodyPr wrap="square"/>
          <a:lstStyle/>
          <a:p>
            <a:pPr algn="l">
              <a:defRPr sz="1400" b="1">
                <a:solidFill>
                  <a:srgbClr val="555555"/>
                </a:solidFill>
                <a:latin typeface="Arial Black"/>
              </a:defRPr>
            </a:pPr>
            <a:r>
              <a:t>HVLP COMPETITORS</a:t>
            </a:r>
          </a:p>
        </p:txBody>
      </p:sp>
      <p:sp>
        <p:nvSpPr>
          <p:cNvPr id="14" name="TextBox 13"/>
          <p:cNvSpPr txBox="1"/>
          <p:nvPr/>
        </p:nvSpPr>
        <p:spPr>
          <a:xfrm>
            <a:off x="6400800" y="2743200"/>
            <a:ext cx="4572000" cy="1371600"/>
          </a:xfrm>
          <a:prstGeom prst="rect">
            <a:avLst/>
          </a:prstGeom>
          <a:noFill/>
        </p:spPr>
        <p:txBody>
          <a:bodyPr wrap="square"/>
          <a:lstStyle/>
          <a:p>
            <a:pPr algn="l">
              <a:spcBef>
                <a:spcPts val="600"/>
              </a:spcBef>
              <a:defRPr sz="1300" b="0">
                <a:solidFill>
                  <a:srgbClr val="888888"/>
                </a:solidFill>
                <a:latin typeface="Calibri"/>
              </a:defRPr>
            </a:pPr>
            <a:r>
              <a:t>Planet Fitness — Basic tech, volume play</a:t>
            </a:r>
          </a:p>
          <a:p>
            <a:pPr>
              <a:spcBef>
                <a:spcPts val="600"/>
              </a:spcBef>
              <a:defRPr sz="1300">
                <a:solidFill>
                  <a:srgbClr val="888888"/>
                </a:solidFill>
                <a:latin typeface="Calibri"/>
              </a:defRPr>
            </a:pPr>
            <a:r>
              <a:t>Crunch — Standard franchise ops</a:t>
            </a:r>
          </a:p>
          <a:p>
            <a:pPr>
              <a:spcBef>
                <a:spcPts val="600"/>
              </a:spcBef>
              <a:defRPr sz="1300">
                <a:solidFill>
                  <a:srgbClr val="888888"/>
                </a:solidFill>
                <a:latin typeface="Calibri"/>
              </a:defRPr>
            </a:pPr>
            <a:r>
              <a:t>EOS Fitness — Regional, limited tech</a:t>
            </a:r>
          </a:p>
        </p:txBody>
      </p:sp>
      <p:sp>
        <p:nvSpPr>
          <p:cNvPr id="15" name="Rounded Rectangle 14"/>
          <p:cNvSpPr/>
          <p:nvPr/>
        </p:nvSpPr>
        <p:spPr>
          <a:xfrm>
            <a:off x="731520" y="4846320"/>
            <a:ext cx="10698480" cy="1371600"/>
          </a:xfrm>
          <a:prstGeom prst="roundRect">
            <a:avLst/>
          </a:prstGeom>
          <a:solidFill>
            <a:srgbClr val="2D2D2D"/>
          </a:solidFill>
          <a:ln w="381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937760"/>
            <a:ext cx="9601200" cy="457200"/>
          </a:xfrm>
          <a:prstGeom prst="rect">
            <a:avLst/>
          </a:prstGeom>
          <a:noFill/>
        </p:spPr>
        <p:txBody>
          <a:bodyPr wrap="square"/>
          <a:lstStyle/>
          <a:p>
            <a:pPr algn="l">
              <a:defRPr sz="1600" b="1">
                <a:solidFill>
                  <a:srgbClr val="F2C23E"/>
                </a:solidFill>
                <a:latin typeface="Arial Black"/>
              </a:defRPr>
            </a:pPr>
            <a:r>
              <a:t>THE OPPORTUNITY</a:t>
            </a:r>
          </a:p>
        </p:txBody>
      </p:sp>
      <p:sp>
        <p:nvSpPr>
          <p:cNvPr id="17" name="TextBox 16"/>
          <p:cNvSpPr txBox="1"/>
          <p:nvPr/>
        </p:nvSpPr>
        <p:spPr>
          <a:xfrm>
            <a:off x="1097280" y="5349240"/>
            <a:ext cx="9601200" cy="731520"/>
          </a:xfrm>
          <a:prstGeom prst="rect">
            <a:avLst/>
          </a:prstGeom>
          <a:noFill/>
        </p:spPr>
        <p:txBody>
          <a:bodyPr wrap="square"/>
          <a:lstStyle/>
          <a:p>
            <a:pPr algn="l">
              <a:defRPr sz="1500" b="0">
                <a:solidFill>
                  <a:srgbClr val="FFFFFF"/>
                </a:solidFill>
                <a:latin typeface="Calibri"/>
              </a:defRPr>
            </a:pPr>
            <a:r>
              <a:t>None of the strength-focused brands have built this yet. Gold's can lead, not follow.</a:t>
            </a:r>
            <a:br/>
            <a:r>
              <a:t>The assemble approach positions Gold's to leapfrog competitors without the cost of building from zero.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10</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NEXT STEPS — ARCHITECT THE PLAN</a:t>
            </a:r>
          </a:p>
        </p:txBody>
      </p:sp>
      <p:sp>
        <p:nvSpPr>
          <p:cNvPr id="4" name="Rounded Rectangle 3"/>
          <p:cNvSpPr/>
          <p:nvPr/>
        </p:nvSpPr>
        <p:spPr>
          <a:xfrm>
            <a:off x="457200" y="1828800"/>
            <a:ext cx="2743200" cy="1645920"/>
          </a:xfrm>
          <a:prstGeom prst="roundRect">
            <a:avLst/>
          </a:prstGeom>
          <a:solidFill>
            <a:srgbClr val="F2C23E"/>
          </a:solidFill>
          <a:ln w="254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0"/>
            <a:ext cx="2377440" cy="365760"/>
          </a:xfrm>
          <a:prstGeom prst="rect">
            <a:avLst/>
          </a:prstGeom>
          <a:noFill/>
        </p:spPr>
        <p:txBody>
          <a:bodyPr wrap="square"/>
          <a:lstStyle/>
          <a:p>
            <a:pPr algn="ctr">
              <a:defRPr sz="1600" b="1">
                <a:solidFill>
                  <a:srgbClr val="FFFFFF"/>
                </a:solidFill>
                <a:latin typeface="Arial Black"/>
              </a:defRPr>
            </a:pPr>
            <a:r>
              <a:t>TODAY</a:t>
            </a:r>
          </a:p>
        </p:txBody>
      </p:sp>
      <p:sp>
        <p:nvSpPr>
          <p:cNvPr id="6" name="TextBox 5"/>
          <p:cNvSpPr txBox="1"/>
          <p:nvPr/>
        </p:nvSpPr>
        <p:spPr>
          <a:xfrm>
            <a:off x="640080" y="2468880"/>
            <a:ext cx="2377440" cy="731520"/>
          </a:xfrm>
          <a:prstGeom prst="rect">
            <a:avLst/>
          </a:prstGeom>
          <a:noFill/>
        </p:spPr>
        <p:txBody>
          <a:bodyPr wrap="square"/>
          <a:lstStyle/>
          <a:p>
            <a:pPr algn="ctr">
              <a:defRPr sz="1200" b="0">
                <a:solidFill>
                  <a:srgbClr val="555555"/>
                </a:solidFill>
                <a:latin typeface="Calibri"/>
              </a:defRPr>
            </a:pPr>
            <a:r>
              <a:t>Phase 0 Complete</a:t>
            </a:r>
            <a:br/>
            <a:r>
              <a:t>Discovery Done</a:t>
            </a:r>
          </a:p>
        </p:txBody>
      </p:sp>
      <p:sp>
        <p:nvSpPr>
          <p:cNvPr id="7" name="Right Arrow 6"/>
          <p:cNvSpPr/>
          <p:nvPr/>
        </p:nvSpPr>
        <p:spPr>
          <a:xfrm>
            <a:off x="3200400" y="2423160"/>
            <a:ext cx="274320" cy="457200"/>
          </a:xfrm>
          <a:prstGeom prst="rightArrow">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83280" y="1828800"/>
            <a:ext cx="2743200" cy="1645920"/>
          </a:xfrm>
          <a:prstGeom prst="roundRect">
            <a:avLst/>
          </a:prstGeom>
          <a:solidFill>
            <a:srgbClr val="F7F7F5"/>
          </a:solidFill>
          <a:ln w="254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11680"/>
            <a:ext cx="2377440" cy="365760"/>
          </a:xfrm>
          <a:prstGeom prst="rect">
            <a:avLst/>
          </a:prstGeom>
          <a:noFill/>
        </p:spPr>
        <p:txBody>
          <a:bodyPr wrap="square"/>
          <a:lstStyle/>
          <a:p>
            <a:pPr algn="ctr">
              <a:defRPr sz="1600" b="1">
                <a:solidFill>
                  <a:srgbClr val="1A1A1A"/>
                </a:solidFill>
                <a:latin typeface="Arial Black"/>
              </a:defRPr>
            </a:pPr>
            <a:r>
              <a:t>FEATURE SPECS</a:t>
            </a:r>
          </a:p>
        </p:txBody>
      </p:sp>
      <p:sp>
        <p:nvSpPr>
          <p:cNvPr id="10" name="TextBox 9"/>
          <p:cNvSpPr txBox="1"/>
          <p:nvPr/>
        </p:nvSpPr>
        <p:spPr>
          <a:xfrm>
            <a:off x="3566160" y="2468880"/>
            <a:ext cx="2377440" cy="731520"/>
          </a:xfrm>
          <a:prstGeom prst="rect">
            <a:avLst/>
          </a:prstGeom>
          <a:noFill/>
        </p:spPr>
        <p:txBody>
          <a:bodyPr wrap="square"/>
          <a:lstStyle/>
          <a:p>
            <a:pPr algn="ctr">
              <a:defRPr sz="1200" b="0">
                <a:solidFill>
                  <a:srgbClr val="555555"/>
                </a:solidFill>
                <a:latin typeface="Calibri"/>
              </a:defRPr>
            </a:pPr>
            <a:r>
              <a:t>Phase 1</a:t>
            </a:r>
            <a:br/>
            <a:r>
              <a:t>Strategy &amp; Playbook</a:t>
            </a:r>
          </a:p>
        </p:txBody>
      </p:sp>
      <p:sp>
        <p:nvSpPr>
          <p:cNvPr id="11" name="Right Arrow 10"/>
          <p:cNvSpPr/>
          <p:nvPr/>
        </p:nvSpPr>
        <p:spPr>
          <a:xfrm>
            <a:off x="6126480" y="2423160"/>
            <a:ext cx="274320" cy="457200"/>
          </a:xfrm>
          <a:prstGeom prst="rightArrow">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828800"/>
            <a:ext cx="2743200" cy="1645920"/>
          </a:xfrm>
          <a:prstGeom prst="roundRect">
            <a:avLst/>
          </a:prstGeom>
          <a:solidFill>
            <a:srgbClr val="F7F7F5"/>
          </a:solidFill>
          <a:ln w="254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011680"/>
            <a:ext cx="2377440" cy="365760"/>
          </a:xfrm>
          <a:prstGeom prst="rect">
            <a:avLst/>
          </a:prstGeom>
          <a:noFill/>
        </p:spPr>
        <p:txBody>
          <a:bodyPr wrap="square"/>
          <a:lstStyle/>
          <a:p>
            <a:pPr algn="ctr">
              <a:defRPr sz="1600" b="1">
                <a:solidFill>
                  <a:srgbClr val="1A1A1A"/>
                </a:solidFill>
                <a:latin typeface="Arial Black"/>
              </a:defRPr>
            </a:pPr>
            <a:r>
              <a:t>VENDOR SELECTION</a:t>
            </a:r>
          </a:p>
        </p:txBody>
      </p:sp>
      <p:sp>
        <p:nvSpPr>
          <p:cNvPr id="14" name="TextBox 13"/>
          <p:cNvSpPr txBox="1"/>
          <p:nvPr/>
        </p:nvSpPr>
        <p:spPr>
          <a:xfrm>
            <a:off x="6492240" y="2468880"/>
            <a:ext cx="2377440" cy="731520"/>
          </a:xfrm>
          <a:prstGeom prst="rect">
            <a:avLst/>
          </a:prstGeom>
          <a:noFill/>
        </p:spPr>
        <p:txBody>
          <a:bodyPr wrap="square"/>
          <a:lstStyle/>
          <a:p>
            <a:pPr algn="ctr">
              <a:defRPr sz="1200" b="0">
                <a:solidFill>
                  <a:srgbClr val="555555"/>
                </a:solidFill>
                <a:latin typeface="Calibri"/>
              </a:defRPr>
            </a:pPr>
            <a:r>
              <a:t>Phase 2-3</a:t>
            </a:r>
            <a:br/>
            <a:r>
              <a:t>Architecture &amp; RFP</a:t>
            </a:r>
          </a:p>
        </p:txBody>
      </p:sp>
      <p:sp>
        <p:nvSpPr>
          <p:cNvPr id="15" name="Right Arrow 14"/>
          <p:cNvSpPr/>
          <p:nvPr/>
        </p:nvSpPr>
        <p:spPr>
          <a:xfrm>
            <a:off x="9052560" y="2423160"/>
            <a:ext cx="274320" cy="457200"/>
          </a:xfrm>
          <a:prstGeom prst="rightArrow">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35440" y="1828800"/>
            <a:ext cx="2743200" cy="1645920"/>
          </a:xfrm>
          <a:prstGeom prst="roundRect">
            <a:avLst/>
          </a:prstGeom>
          <a:solidFill>
            <a:srgbClr val="F7F7F5"/>
          </a:solidFill>
          <a:ln w="2540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2011680"/>
            <a:ext cx="2377440" cy="365760"/>
          </a:xfrm>
          <a:prstGeom prst="rect">
            <a:avLst/>
          </a:prstGeom>
          <a:noFill/>
        </p:spPr>
        <p:txBody>
          <a:bodyPr wrap="square"/>
          <a:lstStyle/>
          <a:p>
            <a:pPr algn="ctr">
              <a:defRPr sz="1600" b="1">
                <a:solidFill>
                  <a:srgbClr val="1A1A1A"/>
                </a:solidFill>
                <a:latin typeface="Arial Black"/>
              </a:defRPr>
            </a:pPr>
            <a:r>
              <a:t>BUILD &amp; LAUNCH</a:t>
            </a:r>
          </a:p>
        </p:txBody>
      </p:sp>
      <p:sp>
        <p:nvSpPr>
          <p:cNvPr id="18" name="TextBox 17"/>
          <p:cNvSpPr txBox="1"/>
          <p:nvPr/>
        </p:nvSpPr>
        <p:spPr>
          <a:xfrm>
            <a:off x="9418320" y="2468880"/>
            <a:ext cx="2377440" cy="731520"/>
          </a:xfrm>
          <a:prstGeom prst="rect">
            <a:avLst/>
          </a:prstGeom>
          <a:noFill/>
        </p:spPr>
        <p:txBody>
          <a:bodyPr wrap="square"/>
          <a:lstStyle/>
          <a:p>
            <a:pPr algn="ctr">
              <a:defRPr sz="1200" b="0">
                <a:solidFill>
                  <a:srgbClr val="555555"/>
                </a:solidFill>
                <a:latin typeface="Calibri"/>
              </a:defRPr>
            </a:pPr>
            <a:r>
              <a:t>Phase 4-6</a:t>
            </a:r>
            <a:br/>
            <a:r>
              <a:t>Implement &amp; Rollout</a:t>
            </a:r>
          </a:p>
        </p:txBody>
      </p:sp>
      <p:sp>
        <p:nvSpPr>
          <p:cNvPr id="19" name="Rounded Rectangle 18"/>
          <p:cNvSpPr/>
          <p:nvPr/>
        </p:nvSpPr>
        <p:spPr>
          <a:xfrm>
            <a:off x="731520" y="4114800"/>
            <a:ext cx="10698480" cy="1645920"/>
          </a:xfrm>
          <a:prstGeom prst="roundRect">
            <a:avLst/>
          </a:prstGeom>
          <a:solidFill>
            <a:srgbClr val="FFFFFF"/>
          </a:solidFill>
          <a:ln w="38100">
            <a:solidFill>
              <a:srgbClr val="F2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76200" cy="164592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206240"/>
            <a:ext cx="9601200" cy="457200"/>
          </a:xfrm>
          <a:prstGeom prst="rect">
            <a:avLst/>
          </a:prstGeom>
          <a:noFill/>
        </p:spPr>
        <p:txBody>
          <a:bodyPr wrap="square"/>
          <a:lstStyle/>
          <a:p>
            <a:pPr algn="l">
              <a:defRPr sz="2000" b="1">
                <a:solidFill>
                  <a:srgbClr val="1A1A1A"/>
                </a:solidFill>
                <a:latin typeface="Arial Black"/>
              </a:defRPr>
            </a:pPr>
            <a:r>
              <a:t>YOU CAN'T WRITE AN RFP IF YOU DON'T KNOW WHAT YOU NEED</a:t>
            </a:r>
          </a:p>
        </p:txBody>
      </p:sp>
      <p:sp>
        <p:nvSpPr>
          <p:cNvPr id="22" name="TextBox 21"/>
          <p:cNvSpPr txBox="1"/>
          <p:nvPr/>
        </p:nvSpPr>
        <p:spPr>
          <a:xfrm>
            <a:off x="1097280" y="4709160"/>
            <a:ext cx="9601200" cy="822960"/>
          </a:xfrm>
          <a:prstGeom prst="rect">
            <a:avLst/>
          </a:prstGeom>
          <a:noFill/>
        </p:spPr>
        <p:txBody>
          <a:bodyPr wrap="square"/>
          <a:lstStyle/>
          <a:p>
            <a:pPr algn="l">
              <a:defRPr sz="1400" b="0">
                <a:solidFill>
                  <a:srgbClr val="555555"/>
                </a:solidFill>
                <a:latin typeface="Calibri"/>
              </a:defRPr>
            </a:pPr>
            <a:r>
              <a:t>Phase 1 delivers the detailed feature specs, vendor evaluation criteria, and architecture blueprints.</a:t>
            </a:r>
            <a:br/>
            <a:r>
              <a:t>This is required to properly evaluate and select the right vendor partners.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F2C23E"/>
                </a:solidFill>
                <a:latin typeface="Arial Black"/>
              </a:defRPr>
            </a:pPr>
            <a:r>
              <a:t>11</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TACTICS — HOW WE GET THERE</a:t>
            </a:r>
          </a:p>
        </p:txBody>
      </p:sp>
      <p:sp>
        <p:nvSpPr>
          <p:cNvPr id="4" name="Oval 3"/>
          <p:cNvSpPr/>
          <p:nvPr/>
        </p:nvSpPr>
        <p:spPr>
          <a:xfrm>
            <a:off x="1554480" y="1554480"/>
            <a:ext cx="457200" cy="45720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600200"/>
            <a:ext cx="457200" cy="365760"/>
          </a:xfrm>
          <a:prstGeom prst="rect">
            <a:avLst/>
          </a:prstGeom>
          <a:noFill/>
        </p:spPr>
        <p:txBody>
          <a:bodyPr wrap="square"/>
          <a:lstStyle/>
          <a:p>
            <a:pPr algn="ctr">
              <a:defRPr sz="1600" b="1">
                <a:solidFill>
                  <a:srgbClr val="1A1A1A"/>
                </a:solidFill>
                <a:latin typeface="Arial Black"/>
              </a:defRPr>
            </a:pPr>
            <a:r>
              <a:t>1</a:t>
            </a:r>
          </a:p>
        </p:txBody>
      </p:sp>
      <p:sp>
        <p:nvSpPr>
          <p:cNvPr id="6" name="Rectangle 5"/>
          <p:cNvSpPr/>
          <p:nvPr/>
        </p:nvSpPr>
        <p:spPr>
          <a:xfrm>
            <a:off x="2011680" y="1755648"/>
            <a:ext cx="2468880" cy="38100"/>
          </a:xfrm>
          <a:prstGeom prst="rect">
            <a:avLst/>
          </a:prstGeom>
          <a:solidFill>
            <a:srgbClr val="FFF0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2377440" cy="320040"/>
          </a:xfrm>
          <a:prstGeom prst="rect">
            <a:avLst/>
          </a:prstGeom>
          <a:noFill/>
        </p:spPr>
        <p:txBody>
          <a:bodyPr wrap="square"/>
          <a:lstStyle/>
          <a:p>
            <a:pPr algn="ctr">
              <a:defRPr sz="1300" b="1">
                <a:solidFill>
                  <a:srgbClr val="E6A800"/>
                </a:solidFill>
                <a:latin typeface="Arial Black"/>
              </a:defRPr>
            </a:pPr>
            <a:r>
              <a:t>THIS WEEK</a:t>
            </a:r>
          </a:p>
        </p:txBody>
      </p:sp>
      <p:sp>
        <p:nvSpPr>
          <p:cNvPr id="8" name="TextBox 7"/>
          <p:cNvSpPr txBox="1"/>
          <p:nvPr/>
        </p:nvSpPr>
        <p:spPr>
          <a:xfrm>
            <a:off x="640080" y="2514600"/>
            <a:ext cx="2377440" cy="640080"/>
          </a:xfrm>
          <a:prstGeom prst="rect">
            <a:avLst/>
          </a:prstGeom>
          <a:noFill/>
        </p:spPr>
        <p:txBody>
          <a:bodyPr wrap="square"/>
          <a:lstStyle/>
          <a:p>
            <a:pPr algn="ctr">
              <a:defRPr sz="1300" b="0">
                <a:solidFill>
                  <a:srgbClr val="1A1A1A"/>
                </a:solidFill>
                <a:latin typeface="Calibri"/>
              </a:defRPr>
            </a:pPr>
            <a:r>
              <a:t>Executive Kickoff</a:t>
            </a:r>
            <a:br/>
            <a:r>
              <a:t>&amp; Strategic Alignment</a:t>
            </a:r>
          </a:p>
        </p:txBody>
      </p:sp>
      <p:sp>
        <p:nvSpPr>
          <p:cNvPr id="9" name="Oval 8"/>
          <p:cNvSpPr/>
          <p:nvPr/>
        </p:nvSpPr>
        <p:spPr>
          <a:xfrm>
            <a:off x="4480560" y="1554480"/>
            <a:ext cx="457200" cy="45720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00200"/>
            <a:ext cx="457200" cy="365760"/>
          </a:xfrm>
          <a:prstGeom prst="rect">
            <a:avLst/>
          </a:prstGeom>
          <a:noFill/>
        </p:spPr>
        <p:txBody>
          <a:bodyPr wrap="square"/>
          <a:lstStyle/>
          <a:p>
            <a:pPr algn="ctr">
              <a:defRPr sz="1600" b="1">
                <a:solidFill>
                  <a:srgbClr val="1A1A1A"/>
                </a:solidFill>
                <a:latin typeface="Arial Black"/>
              </a:defRPr>
            </a:pPr>
            <a:r>
              <a:t>2</a:t>
            </a:r>
          </a:p>
        </p:txBody>
      </p:sp>
      <p:sp>
        <p:nvSpPr>
          <p:cNvPr id="11" name="Rectangle 10"/>
          <p:cNvSpPr/>
          <p:nvPr/>
        </p:nvSpPr>
        <p:spPr>
          <a:xfrm>
            <a:off x="4937760" y="1755648"/>
            <a:ext cx="2468880" cy="38100"/>
          </a:xfrm>
          <a:prstGeom prst="rect">
            <a:avLst/>
          </a:prstGeom>
          <a:solidFill>
            <a:srgbClr val="FFF0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2194560"/>
            <a:ext cx="2377440" cy="320040"/>
          </a:xfrm>
          <a:prstGeom prst="rect">
            <a:avLst/>
          </a:prstGeom>
          <a:noFill/>
        </p:spPr>
        <p:txBody>
          <a:bodyPr wrap="square"/>
          <a:lstStyle/>
          <a:p>
            <a:pPr algn="ctr">
              <a:defRPr sz="1300" b="1">
                <a:solidFill>
                  <a:srgbClr val="E6A800"/>
                </a:solidFill>
                <a:latin typeface="Arial Black"/>
              </a:defRPr>
            </a:pPr>
            <a:r>
              <a:t>WEEKS 2-4</a:t>
            </a:r>
          </a:p>
        </p:txBody>
      </p:sp>
      <p:sp>
        <p:nvSpPr>
          <p:cNvPr id="13" name="TextBox 12"/>
          <p:cNvSpPr txBox="1"/>
          <p:nvPr/>
        </p:nvSpPr>
        <p:spPr>
          <a:xfrm>
            <a:off x="3566160" y="2514600"/>
            <a:ext cx="2377440" cy="640080"/>
          </a:xfrm>
          <a:prstGeom prst="rect">
            <a:avLst/>
          </a:prstGeom>
          <a:noFill/>
        </p:spPr>
        <p:txBody>
          <a:bodyPr wrap="square"/>
          <a:lstStyle/>
          <a:p>
            <a:pPr algn="ctr">
              <a:defRPr sz="1300" b="0">
                <a:solidFill>
                  <a:srgbClr val="1A1A1A"/>
                </a:solidFill>
                <a:latin typeface="Calibri"/>
              </a:defRPr>
            </a:pPr>
            <a:r>
              <a:t>User Story</a:t>
            </a:r>
            <a:br/>
            <a:r>
              <a:t>Mapping Sessions</a:t>
            </a:r>
          </a:p>
        </p:txBody>
      </p:sp>
      <p:sp>
        <p:nvSpPr>
          <p:cNvPr id="14" name="Oval 13"/>
          <p:cNvSpPr/>
          <p:nvPr/>
        </p:nvSpPr>
        <p:spPr>
          <a:xfrm>
            <a:off x="7406640" y="1554480"/>
            <a:ext cx="457200" cy="45720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600200"/>
            <a:ext cx="457200" cy="365760"/>
          </a:xfrm>
          <a:prstGeom prst="rect">
            <a:avLst/>
          </a:prstGeom>
          <a:noFill/>
        </p:spPr>
        <p:txBody>
          <a:bodyPr wrap="square"/>
          <a:lstStyle/>
          <a:p>
            <a:pPr algn="ctr">
              <a:defRPr sz="1600" b="1">
                <a:solidFill>
                  <a:srgbClr val="1A1A1A"/>
                </a:solidFill>
                <a:latin typeface="Arial Black"/>
              </a:defRPr>
            </a:pPr>
            <a:r>
              <a:t>3</a:t>
            </a:r>
          </a:p>
        </p:txBody>
      </p:sp>
      <p:sp>
        <p:nvSpPr>
          <p:cNvPr id="16" name="Rectangle 15"/>
          <p:cNvSpPr/>
          <p:nvPr/>
        </p:nvSpPr>
        <p:spPr>
          <a:xfrm>
            <a:off x="7863840" y="1755648"/>
            <a:ext cx="2468880" cy="38100"/>
          </a:xfrm>
          <a:prstGeom prst="rect">
            <a:avLst/>
          </a:prstGeom>
          <a:solidFill>
            <a:srgbClr val="FFF0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194560"/>
            <a:ext cx="2377440" cy="320040"/>
          </a:xfrm>
          <a:prstGeom prst="rect">
            <a:avLst/>
          </a:prstGeom>
          <a:noFill/>
        </p:spPr>
        <p:txBody>
          <a:bodyPr wrap="square"/>
          <a:lstStyle/>
          <a:p>
            <a:pPr algn="ctr">
              <a:defRPr sz="1300" b="1">
                <a:solidFill>
                  <a:srgbClr val="E6A800"/>
                </a:solidFill>
                <a:latin typeface="Arial Black"/>
              </a:defRPr>
            </a:pPr>
            <a:r>
              <a:t>WEEKS 4-6</a:t>
            </a:r>
          </a:p>
        </p:txBody>
      </p:sp>
      <p:sp>
        <p:nvSpPr>
          <p:cNvPr id="18" name="TextBox 17"/>
          <p:cNvSpPr txBox="1"/>
          <p:nvPr/>
        </p:nvSpPr>
        <p:spPr>
          <a:xfrm>
            <a:off x="6492240" y="2514600"/>
            <a:ext cx="2377440" cy="640080"/>
          </a:xfrm>
          <a:prstGeom prst="rect">
            <a:avLst/>
          </a:prstGeom>
          <a:noFill/>
        </p:spPr>
        <p:txBody>
          <a:bodyPr wrap="square"/>
          <a:lstStyle/>
          <a:p>
            <a:pPr algn="ctr">
              <a:defRPr sz="1300" b="0">
                <a:solidFill>
                  <a:srgbClr val="1A1A1A"/>
                </a:solidFill>
                <a:latin typeface="Calibri"/>
              </a:defRPr>
            </a:pPr>
            <a:r>
              <a:t>Phase 1</a:t>
            </a:r>
            <a:br/>
            <a:r>
              <a:t>Deliverables</a:t>
            </a:r>
          </a:p>
        </p:txBody>
      </p:sp>
      <p:sp>
        <p:nvSpPr>
          <p:cNvPr id="19" name="Oval 18"/>
          <p:cNvSpPr/>
          <p:nvPr/>
        </p:nvSpPr>
        <p:spPr>
          <a:xfrm>
            <a:off x="10332720" y="1554480"/>
            <a:ext cx="457200" cy="457200"/>
          </a:xfrm>
          <a:prstGeom prst="ellipse">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0" y="1600200"/>
            <a:ext cx="457200" cy="365760"/>
          </a:xfrm>
          <a:prstGeom prst="rect">
            <a:avLst/>
          </a:prstGeom>
          <a:noFill/>
        </p:spPr>
        <p:txBody>
          <a:bodyPr wrap="square"/>
          <a:lstStyle/>
          <a:p>
            <a:pPr algn="ctr">
              <a:defRPr sz="1600" b="1">
                <a:solidFill>
                  <a:srgbClr val="1A1A1A"/>
                </a:solidFill>
                <a:latin typeface="Arial Black"/>
              </a:defRPr>
            </a:pPr>
            <a:r>
              <a:t>4</a:t>
            </a:r>
          </a:p>
        </p:txBody>
      </p:sp>
      <p:sp>
        <p:nvSpPr>
          <p:cNvPr id="21" name="TextBox 20"/>
          <p:cNvSpPr txBox="1"/>
          <p:nvPr/>
        </p:nvSpPr>
        <p:spPr>
          <a:xfrm>
            <a:off x="9418320" y="2194560"/>
            <a:ext cx="2377440" cy="320040"/>
          </a:xfrm>
          <a:prstGeom prst="rect">
            <a:avLst/>
          </a:prstGeom>
          <a:noFill/>
        </p:spPr>
        <p:txBody>
          <a:bodyPr wrap="square"/>
          <a:lstStyle/>
          <a:p>
            <a:pPr algn="ctr">
              <a:defRPr sz="1300" b="1">
                <a:solidFill>
                  <a:srgbClr val="E6A800"/>
                </a:solidFill>
                <a:latin typeface="Arial Black"/>
              </a:defRPr>
            </a:pPr>
            <a:r>
              <a:t>WEEKS 6-8</a:t>
            </a:r>
          </a:p>
        </p:txBody>
      </p:sp>
      <p:sp>
        <p:nvSpPr>
          <p:cNvPr id="22" name="TextBox 21"/>
          <p:cNvSpPr txBox="1"/>
          <p:nvPr/>
        </p:nvSpPr>
        <p:spPr>
          <a:xfrm>
            <a:off x="9418320" y="2514600"/>
            <a:ext cx="2377440" cy="640080"/>
          </a:xfrm>
          <a:prstGeom prst="rect">
            <a:avLst/>
          </a:prstGeom>
          <a:noFill/>
        </p:spPr>
        <p:txBody>
          <a:bodyPr wrap="square"/>
          <a:lstStyle/>
          <a:p>
            <a:pPr algn="ctr">
              <a:defRPr sz="1300" b="0">
                <a:solidFill>
                  <a:srgbClr val="1A1A1A"/>
                </a:solidFill>
                <a:latin typeface="Calibri"/>
              </a:defRPr>
            </a:pPr>
            <a:r>
              <a:t>Phase 2</a:t>
            </a:r>
            <a:br/>
            <a:r>
              <a:t>Architecture</a:t>
            </a:r>
          </a:p>
        </p:txBody>
      </p:sp>
      <p:sp>
        <p:nvSpPr>
          <p:cNvPr id="23" name="Rounded Rectangle 22"/>
          <p:cNvSpPr/>
          <p:nvPr/>
        </p:nvSpPr>
        <p:spPr>
          <a:xfrm>
            <a:off x="457200" y="3657600"/>
            <a:ext cx="3566160" cy="2286000"/>
          </a:xfrm>
          <a:prstGeom prst="roundRect">
            <a:avLst/>
          </a:prstGeom>
          <a:solidFill>
            <a:srgbClr val="FFFFFF"/>
          </a:solidFill>
          <a:ln w="1905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657600"/>
            <a:ext cx="3566160" cy="508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840480"/>
            <a:ext cx="3200400" cy="457200"/>
          </a:xfrm>
          <a:prstGeom prst="rect">
            <a:avLst/>
          </a:prstGeom>
          <a:noFill/>
        </p:spPr>
        <p:txBody>
          <a:bodyPr wrap="square"/>
          <a:lstStyle/>
          <a:p>
            <a:pPr algn="l">
              <a:defRPr sz="1300" b="1">
                <a:solidFill>
                  <a:srgbClr val="1A1A1A"/>
                </a:solidFill>
                <a:latin typeface="Arial Black"/>
              </a:defRPr>
            </a:pPr>
            <a:r>
              <a:t>USER STORY MAPPING SESSIONS</a:t>
            </a:r>
          </a:p>
        </p:txBody>
      </p:sp>
      <p:sp>
        <p:nvSpPr>
          <p:cNvPr id="26" name="TextBox 25"/>
          <p:cNvSpPr txBox="1"/>
          <p:nvPr/>
        </p:nvSpPr>
        <p:spPr>
          <a:xfrm>
            <a:off x="640080" y="4480560"/>
            <a:ext cx="3200400" cy="1188720"/>
          </a:xfrm>
          <a:prstGeom prst="rect">
            <a:avLst/>
          </a:prstGeom>
          <a:noFill/>
        </p:spPr>
        <p:txBody>
          <a:bodyPr wrap="square"/>
          <a:lstStyle/>
          <a:p>
            <a:pPr algn="l">
              <a:defRPr sz="1200" b="0">
                <a:solidFill>
                  <a:srgbClr val="555555"/>
                </a:solidFill>
                <a:latin typeface="Calibri"/>
              </a:defRPr>
            </a:pPr>
            <a:r>
              <a:t>Deep-dive sessions with domain experts — not just execs.</a:t>
            </a:r>
            <a:br/>
            <a:r>
              <a:t>Get into the weeds on features, workflows, and edge cases.</a:t>
            </a:r>
          </a:p>
        </p:txBody>
      </p:sp>
      <p:sp>
        <p:nvSpPr>
          <p:cNvPr id="27" name="Rounded Rectangle 26"/>
          <p:cNvSpPr/>
          <p:nvPr/>
        </p:nvSpPr>
        <p:spPr>
          <a:xfrm>
            <a:off x="4297680" y="3657600"/>
            <a:ext cx="3566160" cy="2286000"/>
          </a:xfrm>
          <a:prstGeom prst="roundRect">
            <a:avLst/>
          </a:prstGeom>
          <a:solidFill>
            <a:srgbClr val="FFFFFF"/>
          </a:solidFill>
          <a:ln w="1905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657600"/>
            <a:ext cx="3566160" cy="508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840480"/>
            <a:ext cx="3200400" cy="457200"/>
          </a:xfrm>
          <a:prstGeom prst="rect">
            <a:avLst/>
          </a:prstGeom>
          <a:noFill/>
        </p:spPr>
        <p:txBody>
          <a:bodyPr wrap="square"/>
          <a:lstStyle/>
          <a:p>
            <a:pPr algn="l">
              <a:defRPr sz="1300" b="1">
                <a:solidFill>
                  <a:srgbClr val="1A1A1A"/>
                </a:solidFill>
                <a:latin typeface="Arial Black"/>
              </a:defRPr>
            </a:pPr>
            <a:r>
              <a:t>15 PERSONAS IDENTIFIED</a:t>
            </a:r>
          </a:p>
        </p:txBody>
      </p:sp>
      <p:sp>
        <p:nvSpPr>
          <p:cNvPr id="30" name="TextBox 29"/>
          <p:cNvSpPr txBox="1"/>
          <p:nvPr/>
        </p:nvSpPr>
        <p:spPr>
          <a:xfrm>
            <a:off x="4480560" y="4480560"/>
            <a:ext cx="3200400" cy="1188720"/>
          </a:xfrm>
          <a:prstGeom prst="rect">
            <a:avLst/>
          </a:prstGeom>
          <a:noFill/>
        </p:spPr>
        <p:txBody>
          <a:bodyPr wrap="square"/>
          <a:lstStyle/>
          <a:p>
            <a:pPr algn="l">
              <a:defRPr sz="1200" b="0">
                <a:solidFill>
                  <a:srgbClr val="555555"/>
                </a:solidFill>
                <a:latin typeface="Calibri"/>
              </a:defRPr>
            </a:pPr>
            <a:r>
              <a:t>From Platform Admin to Prospective Member to Franchise Owner.</a:t>
            </a:r>
            <a:br/>
            <a:r>
              <a:t>100+ user stories ready for validation.</a:t>
            </a:r>
          </a:p>
        </p:txBody>
      </p:sp>
      <p:sp>
        <p:nvSpPr>
          <p:cNvPr id="31" name="Rounded Rectangle 30"/>
          <p:cNvSpPr/>
          <p:nvPr/>
        </p:nvSpPr>
        <p:spPr>
          <a:xfrm>
            <a:off x="8138160" y="3657600"/>
            <a:ext cx="3566160" cy="2286000"/>
          </a:xfrm>
          <a:prstGeom prst="roundRect">
            <a:avLst/>
          </a:prstGeom>
          <a:solidFill>
            <a:srgbClr val="FFFFFF"/>
          </a:solidFill>
          <a:ln w="19050">
            <a:solidFill>
              <a:srgbClr val="E5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3657600"/>
            <a:ext cx="3566160" cy="508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3840480"/>
            <a:ext cx="3200400" cy="457200"/>
          </a:xfrm>
          <a:prstGeom prst="rect">
            <a:avLst/>
          </a:prstGeom>
          <a:noFill/>
        </p:spPr>
        <p:txBody>
          <a:bodyPr wrap="square"/>
          <a:lstStyle/>
          <a:p>
            <a:pPr algn="l">
              <a:defRPr sz="1300" b="1">
                <a:solidFill>
                  <a:srgbClr val="1A1A1A"/>
                </a:solidFill>
                <a:latin typeface="Arial Black"/>
              </a:defRPr>
            </a:pPr>
            <a:r>
              <a:t>OUTPUT FEEDS DIRECTLY INTO DELIVERABLES</a:t>
            </a:r>
          </a:p>
        </p:txBody>
      </p:sp>
      <p:sp>
        <p:nvSpPr>
          <p:cNvPr id="34" name="TextBox 33"/>
          <p:cNvSpPr txBox="1"/>
          <p:nvPr/>
        </p:nvSpPr>
        <p:spPr>
          <a:xfrm>
            <a:off x="8321040" y="4480560"/>
            <a:ext cx="3200400" cy="1188720"/>
          </a:xfrm>
          <a:prstGeom prst="rect">
            <a:avLst/>
          </a:prstGeom>
          <a:noFill/>
        </p:spPr>
        <p:txBody>
          <a:bodyPr wrap="square"/>
          <a:lstStyle/>
          <a:p>
            <a:pPr algn="l">
              <a:defRPr sz="1200" b="0">
                <a:solidFill>
                  <a:srgbClr val="555555"/>
                </a:solidFill>
                <a:latin typeface="Calibri"/>
              </a:defRPr>
            </a:pPr>
            <a:r>
              <a:t>Ensures we can tell vendors exactly what we need.</a:t>
            </a:r>
            <a:br/>
            <a:r>
              <a:t>No ambiguity, no scope creep.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 cy="365760"/>
          </a:xfrm>
          <a:prstGeom prst="rect">
            <a:avLst/>
          </a:prstGeom>
          <a:noFill/>
        </p:spPr>
        <p:txBody>
          <a:bodyPr wrap="square"/>
          <a:lstStyle/>
          <a:p>
            <a:pPr algn="l">
              <a:defRPr sz="1600" b="1">
                <a:solidFill>
                  <a:srgbClr val="C62828"/>
                </a:solidFill>
                <a:latin typeface="Arial Black"/>
              </a:defRPr>
            </a:pPr>
            <a:r>
              <a:t>12</a:t>
            </a:r>
          </a:p>
        </p:txBody>
      </p:sp>
      <p:sp>
        <p:nvSpPr>
          <p:cNvPr id="3" name="TextBox 2"/>
          <p:cNvSpPr txBox="1"/>
          <p:nvPr/>
        </p:nvSpPr>
        <p:spPr>
          <a:xfrm>
            <a:off x="731520" y="548640"/>
            <a:ext cx="10058400" cy="548640"/>
          </a:xfrm>
          <a:prstGeom prst="rect">
            <a:avLst/>
          </a:prstGeom>
          <a:noFill/>
        </p:spPr>
        <p:txBody>
          <a:bodyPr wrap="square"/>
          <a:lstStyle/>
          <a:p>
            <a:pPr algn="l">
              <a:defRPr sz="2800" b="1">
                <a:solidFill>
                  <a:srgbClr val="1A1A1A"/>
                </a:solidFill>
                <a:latin typeface="Arial Black"/>
              </a:defRPr>
            </a:pPr>
            <a:r>
              <a:t>KEY DECISIONS — WE NEED YOUR DIRECTION</a:t>
            </a:r>
          </a:p>
        </p:txBody>
      </p:sp>
      <p:sp>
        <p:nvSpPr>
          <p:cNvPr id="4" name="TextBox 3"/>
          <p:cNvSpPr txBox="1"/>
          <p:nvPr/>
        </p:nvSpPr>
        <p:spPr>
          <a:xfrm>
            <a:off x="731520" y="1051560"/>
            <a:ext cx="8229600" cy="365760"/>
          </a:xfrm>
          <a:prstGeom prst="rect">
            <a:avLst/>
          </a:prstGeom>
          <a:noFill/>
        </p:spPr>
        <p:txBody>
          <a:bodyPr wrap="square"/>
          <a:lstStyle/>
          <a:p>
            <a:pPr algn="l">
              <a:defRPr sz="1400" b="1">
                <a:solidFill>
                  <a:srgbClr val="555555"/>
                </a:solidFill>
                <a:latin typeface="Calibri"/>
              </a:defRPr>
            </a:pPr>
            <a:r>
              <a:t>Present each decision. State our recommendation. Ask for yes or no.</a:t>
            </a:r>
          </a:p>
        </p:txBody>
      </p:sp>
      <p:graphicFrame>
        <p:nvGraphicFramePr>
          <p:cNvPr id="5" name="Table 4"/>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457200"/>
                <a:gridCol w="5029200"/>
                <a:gridCol w="5212080"/>
              </a:tblGrid>
              <a:tr h="762000">
                <a:tc>
                  <a:txBody>
                    <a:bodyPr wrap="square"/>
                    <a:lstStyle/>
                    <a:p>
                      <a:pPr algn="ctr">
                        <a:defRPr sz="1200" b="1">
                          <a:solidFill>
                            <a:srgbClr val="FFFFFF"/>
                          </a:solidFill>
                          <a:latin typeface="Arial Black"/>
                        </a:defRPr>
                      </a:pPr>
                      <a:r>
                        <a:t>#</a:t>
                      </a:r>
                    </a:p>
                  </a:txBody>
                  <a:tcPr marL="91440" marR="91440" marT="45720" marB="45720">
                    <a:solidFill>
                      <a:srgbClr val="1A1A1A"/>
                    </a:solidFill>
                  </a:tcPr>
                </a:tc>
                <a:tc>
                  <a:txBody>
                    <a:bodyPr wrap="square"/>
                    <a:lstStyle/>
                    <a:p>
                      <a:pPr algn="l">
                        <a:defRPr sz="1200" b="1">
                          <a:solidFill>
                            <a:srgbClr val="FFFFFF"/>
                          </a:solidFill>
                          <a:latin typeface="Arial Black"/>
                        </a:defRPr>
                      </a:pPr>
                      <a:r>
                        <a:t>DECISION</a:t>
                      </a:r>
                    </a:p>
                  </a:txBody>
                  <a:tcPr marL="91440" marR="91440" marT="45720" marB="45720">
                    <a:solidFill>
                      <a:srgbClr val="1A1A1A"/>
                    </a:solidFill>
                  </a:tcPr>
                </a:tc>
                <a:tc>
                  <a:txBody>
                    <a:bodyPr wrap="square"/>
                    <a:lstStyle/>
                    <a:p>
                      <a:pPr algn="l">
                        <a:defRPr sz="1200" b="1">
                          <a:solidFill>
                            <a:srgbClr val="F2C23E"/>
                          </a:solidFill>
                          <a:latin typeface="Arial Black"/>
                        </a:defRPr>
                      </a:pPr>
                      <a:r>
                        <a:t>OUR RECOMMENDATION</a:t>
                      </a:r>
                    </a:p>
                  </a:txBody>
                  <a:tcPr marL="91440" marR="91440" marT="45720" marB="45720">
                    <a:solidFill>
                      <a:srgbClr val="1A1A1A"/>
                    </a:solidFill>
                  </a:tcPr>
                </a:tc>
              </a:tr>
              <a:tr h="762000">
                <a:tc>
                  <a:txBody>
                    <a:bodyPr wrap="square"/>
                    <a:lstStyle/>
                    <a:p>
                      <a:pPr algn="ctr">
                        <a:defRPr sz="1600" b="1">
                          <a:solidFill>
                            <a:srgbClr val="F2C23E"/>
                          </a:solidFill>
                          <a:latin typeface="Arial Black"/>
                        </a:defRPr>
                      </a:pPr>
                      <a:r>
                        <a:t>1</a:t>
                      </a:r>
                    </a:p>
                  </a:txBody>
                  <a:tcPr marL="91440" marR="91440" marT="45720" marB="45720">
                    <a:solidFill>
                      <a:srgbClr val="FFFFFF"/>
                    </a:solidFill>
                  </a:tcPr>
                </a:tc>
                <a:tc>
                  <a:txBody>
                    <a:bodyPr wrap="square"/>
                    <a:lstStyle/>
                    <a:p>
                      <a:pPr algn="l">
                        <a:defRPr sz="1200" b="0">
                          <a:solidFill>
                            <a:srgbClr val="1A1A1A"/>
                          </a:solidFill>
                          <a:latin typeface="Calibri"/>
                        </a:defRPr>
                      </a:pPr>
                      <a:r>
                        <a:t>Are we missing any core amenities to account for in the tech stack?</a:t>
                      </a:r>
                    </a:p>
                  </a:txBody>
                  <a:tcPr marL="91440" marR="91440" marT="45720" marB="45720">
                    <a:solidFill>
                      <a:srgbClr val="FFFFFF"/>
                    </a:solidFill>
                  </a:tcPr>
                </a:tc>
                <a:tc>
                  <a:txBody>
                    <a:bodyPr wrap="square"/>
                    <a:lstStyle/>
                    <a:p>
                      <a:pPr algn="l">
                        <a:defRPr sz="1200" b="1">
                          <a:solidFill>
                            <a:srgbClr val="1A1A1A"/>
                          </a:solidFill>
                          <a:latin typeface="Calibri"/>
                        </a:defRPr>
                      </a:pPr>
                      <a:r>
                        <a:t>Austin model is the baseline — confirm or flag additions</a:t>
                      </a:r>
                    </a:p>
                  </a:txBody>
                  <a:tcPr marL="91440" marR="91440" marT="45720" marB="45720">
                    <a:solidFill>
                      <a:srgbClr val="FFFFFF"/>
                    </a:solidFill>
                  </a:tcPr>
                </a:tc>
              </a:tr>
              <a:tr h="762000">
                <a:tc>
                  <a:txBody>
                    <a:bodyPr wrap="square"/>
                    <a:lstStyle/>
                    <a:p>
                      <a:pPr algn="ctr">
                        <a:defRPr sz="1600" b="1">
                          <a:solidFill>
                            <a:srgbClr val="F2C23E"/>
                          </a:solidFill>
                          <a:latin typeface="Arial Black"/>
                        </a:defRPr>
                      </a:pPr>
                      <a:r>
                        <a:t>2</a:t>
                      </a:r>
                    </a:p>
                  </a:txBody>
                  <a:tcPr marL="91440" marR="91440" marT="45720" marB="45720">
                    <a:solidFill>
                      <a:srgbClr val="F7F7F5"/>
                    </a:solidFill>
                  </a:tcPr>
                </a:tc>
                <a:tc>
                  <a:txBody>
                    <a:bodyPr wrap="square"/>
                    <a:lstStyle/>
                    <a:p>
                      <a:pPr algn="l">
                        <a:defRPr sz="1200" b="0">
                          <a:solidFill>
                            <a:srgbClr val="1A1A1A"/>
                          </a:solidFill>
                          <a:latin typeface="Calibri"/>
                        </a:defRPr>
                      </a:pPr>
                      <a:r>
                        <a:t>Should Gold's hire internally or engage an agency to build the owned components?</a:t>
                      </a:r>
                    </a:p>
                  </a:txBody>
                  <a:tcPr marL="91440" marR="91440" marT="45720" marB="45720">
                    <a:solidFill>
                      <a:srgbClr val="F7F7F5"/>
                    </a:solidFill>
                  </a:tcPr>
                </a:tc>
                <a:tc>
                  <a:txBody>
                    <a:bodyPr wrap="square"/>
                    <a:lstStyle/>
                    <a:p>
                      <a:pPr algn="l">
                        <a:defRPr sz="1200" b="1">
                          <a:solidFill>
                            <a:srgbClr val="1A1A1A"/>
                          </a:solidFill>
                          <a:latin typeface="Calibri"/>
                        </a:defRPr>
                      </a:pPr>
                      <a:r>
                        <a:t>Start with agency (speed + expertise), path to in-house as platform matures</a:t>
                      </a:r>
                    </a:p>
                  </a:txBody>
                  <a:tcPr marL="91440" marR="91440" marT="45720" marB="45720">
                    <a:solidFill>
                      <a:srgbClr val="F7F7F5"/>
                    </a:solidFill>
                  </a:tcPr>
                </a:tc>
              </a:tr>
              <a:tr h="762000">
                <a:tc>
                  <a:txBody>
                    <a:bodyPr wrap="square"/>
                    <a:lstStyle/>
                    <a:p>
                      <a:pPr algn="ctr">
                        <a:defRPr sz="1600" b="1">
                          <a:solidFill>
                            <a:srgbClr val="F2C23E"/>
                          </a:solidFill>
                          <a:latin typeface="Arial Black"/>
                        </a:defRPr>
                      </a:pPr>
                      <a:r>
                        <a:t>3</a:t>
                      </a:r>
                    </a:p>
                  </a:txBody>
                  <a:tcPr marL="91440" marR="91440" marT="45720" marB="45720">
                    <a:solidFill>
                      <a:srgbClr val="FFFFFF"/>
                    </a:solidFill>
                  </a:tcPr>
                </a:tc>
                <a:tc>
                  <a:txBody>
                    <a:bodyPr wrap="square"/>
                    <a:lstStyle/>
                    <a:p>
                      <a:pPr algn="l">
                        <a:defRPr sz="1200" b="0">
                          <a:solidFill>
                            <a:srgbClr val="1A1A1A"/>
                          </a:solidFill>
                          <a:latin typeface="Calibri"/>
                        </a:defRPr>
                      </a:pPr>
                      <a:r>
                        <a:t>Will this platform generate franchisee revenue (join fees, tech fees, paid services)?</a:t>
                      </a:r>
                    </a:p>
                  </a:txBody>
                  <a:tcPr marL="91440" marR="91440" marT="45720" marB="45720">
                    <a:solidFill>
                      <a:srgbClr val="FFFFFF"/>
                    </a:solidFill>
                  </a:tcPr>
                </a:tc>
                <a:tc>
                  <a:txBody>
                    <a:bodyPr wrap="square"/>
                    <a:lstStyle/>
                    <a:p>
                      <a:pPr algn="l">
                        <a:defRPr sz="1200" b="1">
                          <a:solidFill>
                            <a:srgbClr val="1A1A1A"/>
                          </a:solidFill>
                          <a:latin typeface="Calibri"/>
                        </a:defRPr>
                      </a:pPr>
                      <a:r>
                        <a:t>Yes — design revenue capture in from day one</a:t>
                      </a:r>
                    </a:p>
                  </a:txBody>
                  <a:tcPr marL="91440" marR="91440" marT="45720" marB="45720">
                    <a:solidFill>
                      <a:srgbClr val="FFFFFF"/>
                    </a:solidFill>
                  </a:tcPr>
                </a:tc>
              </a:tr>
              <a:tr h="762000">
                <a:tc>
                  <a:txBody>
                    <a:bodyPr wrap="square"/>
                    <a:lstStyle/>
                    <a:p>
                      <a:pPr algn="ctr">
                        <a:defRPr sz="1600" b="1">
                          <a:solidFill>
                            <a:srgbClr val="F2C23E"/>
                          </a:solidFill>
                          <a:latin typeface="Arial Black"/>
                        </a:defRPr>
                      </a:pPr>
                      <a:r>
                        <a:t>4</a:t>
                      </a:r>
                    </a:p>
                  </a:txBody>
                  <a:tcPr marL="91440" marR="91440" marT="45720" marB="45720">
                    <a:solidFill>
                      <a:srgbClr val="F7F7F5"/>
                    </a:solidFill>
                  </a:tcPr>
                </a:tc>
                <a:tc>
                  <a:txBody>
                    <a:bodyPr wrap="square"/>
                    <a:lstStyle/>
                    <a:p>
                      <a:pPr algn="l">
                        <a:defRPr sz="1200" b="0">
                          <a:solidFill>
                            <a:srgbClr val="1A1A1A"/>
                          </a:solidFill>
                          <a:latin typeface="Calibri"/>
                        </a:defRPr>
                      </a:pPr>
                      <a:r>
                        <a:t>Will the team support corporate only, or also franchisee services? More headcount needed?</a:t>
                      </a:r>
                    </a:p>
                  </a:txBody>
                  <a:tcPr marL="91440" marR="91440" marT="45720" marB="45720">
                    <a:solidFill>
                      <a:srgbClr val="F7F7F5"/>
                    </a:solidFill>
                  </a:tcPr>
                </a:tc>
                <a:tc>
                  <a:txBody>
                    <a:bodyPr wrap="square"/>
                    <a:lstStyle/>
                    <a:p>
                      <a:pPr algn="l">
                        <a:defRPr sz="1200" b="1">
                          <a:solidFill>
                            <a:srgbClr val="1A1A1A"/>
                          </a:solidFill>
                          <a:latin typeface="Calibri"/>
                        </a:defRPr>
                      </a:pPr>
                      <a:r>
                        <a:t>Shared services model — corporate team + dedicated franchisee support as platform rolls out</a:t>
                      </a:r>
                    </a:p>
                  </a:txBody>
                  <a:tcPr marL="91440" marR="91440" marT="45720" marB="45720">
                    <a:solidFill>
                      <a:srgbClr val="F7F7F5"/>
                    </a:solidFill>
                  </a:tcPr>
                </a:tc>
              </a:tr>
              <a:tr h="762000">
                <a:tc>
                  <a:txBody>
                    <a:bodyPr wrap="square"/>
                    <a:lstStyle/>
                    <a:p>
                      <a:pPr algn="ctr">
                        <a:defRPr sz="1600" b="1">
                          <a:solidFill>
                            <a:srgbClr val="F2C23E"/>
                          </a:solidFill>
                          <a:latin typeface="Arial Black"/>
                        </a:defRPr>
                      </a:pPr>
                      <a:r>
                        <a:t>5</a:t>
                      </a:r>
                    </a:p>
                  </a:txBody>
                  <a:tcPr marL="91440" marR="91440" marT="45720" marB="45720">
                    <a:solidFill>
                      <a:srgbClr val="FFFFFF"/>
                    </a:solidFill>
                  </a:tcPr>
                </a:tc>
                <a:tc>
                  <a:txBody>
                    <a:bodyPr wrap="square"/>
                    <a:lstStyle/>
                    <a:p>
                      <a:pPr algn="l">
                        <a:defRPr sz="1200" b="0">
                          <a:solidFill>
                            <a:srgbClr val="1A1A1A"/>
                          </a:solidFill>
                          <a:latin typeface="Calibri"/>
                        </a:defRPr>
                      </a:pPr>
                      <a:r>
                        <a:t>Is there a set budget, or do we provide tiered recommendations?</a:t>
                      </a:r>
                    </a:p>
                  </a:txBody>
                  <a:tcPr marL="91440" marR="91440" marT="45720" marB="45720">
                    <a:solidFill>
                      <a:srgbClr val="FFFFFF"/>
                    </a:solidFill>
                  </a:tcPr>
                </a:tc>
                <a:tc>
                  <a:txBody>
                    <a:bodyPr wrap="square"/>
                    <a:lstStyle/>
                    <a:p>
                      <a:pPr algn="l">
                        <a:defRPr sz="1200" b="1">
                          <a:solidFill>
                            <a:srgbClr val="1A1A1A"/>
                          </a:solidFill>
                          <a:latin typeface="Calibri"/>
                        </a:defRPr>
                      </a:pPr>
                      <a:r>
                        <a:t>We'll deliver tiered budget options (minimum, recommended, ideal) in Phase 1</a:t>
                      </a:r>
                    </a:p>
                  </a:txBody>
                  <a:tcPr marL="91440" marR="91440" marT="45720" marB="4572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1645920"/>
            <a:ext cx="10058400" cy="914400"/>
          </a:xfrm>
          <a:prstGeom prst="rect">
            <a:avLst/>
          </a:prstGeom>
          <a:noFill/>
        </p:spPr>
        <p:txBody>
          <a:bodyPr wrap="square"/>
          <a:lstStyle/>
          <a:p>
            <a:pPr algn="ctr">
              <a:defRPr sz="3600" b="1">
                <a:solidFill>
                  <a:srgbClr val="FFFFFF"/>
                </a:solidFill>
                <a:latin typeface="Arial Black"/>
              </a:defRPr>
            </a:pPr>
            <a:r>
              <a:t>GOLD'S GYM CREATED THE</a:t>
            </a:r>
          </a:p>
        </p:txBody>
      </p:sp>
      <p:sp>
        <p:nvSpPr>
          <p:cNvPr id="3" name="TextBox 2"/>
          <p:cNvSpPr txBox="1"/>
          <p:nvPr/>
        </p:nvSpPr>
        <p:spPr>
          <a:xfrm>
            <a:off x="914400" y="2377440"/>
            <a:ext cx="10058400" cy="914400"/>
          </a:xfrm>
          <a:prstGeom prst="rect">
            <a:avLst/>
          </a:prstGeom>
          <a:noFill/>
        </p:spPr>
        <p:txBody>
          <a:bodyPr wrap="square"/>
          <a:lstStyle/>
          <a:p>
            <a:pPr algn="ctr">
              <a:defRPr sz="3600" b="1">
                <a:solidFill>
                  <a:srgbClr val="FFFFFF"/>
                </a:solidFill>
                <a:latin typeface="Arial Black"/>
              </a:defRPr>
            </a:pPr>
            <a:r>
              <a:t>MODERN GYM INDUSTRY.</a:t>
            </a:r>
          </a:p>
        </p:txBody>
      </p:sp>
      <p:sp>
        <p:nvSpPr>
          <p:cNvPr id="4" name="Rectangle 3"/>
          <p:cNvSpPr/>
          <p:nvPr/>
        </p:nvSpPr>
        <p:spPr>
          <a:xfrm>
            <a:off x="5029200" y="3291840"/>
            <a:ext cx="2103120" cy="38100"/>
          </a:xfrm>
          <a:prstGeom prst="rect">
            <a:avLst/>
          </a:prstGeom>
          <a:solidFill>
            <a:srgbClr val="F2C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657600"/>
            <a:ext cx="10058400" cy="914400"/>
          </a:xfrm>
          <a:prstGeom prst="rect">
            <a:avLst/>
          </a:prstGeom>
          <a:noFill/>
        </p:spPr>
        <p:txBody>
          <a:bodyPr wrap="square"/>
          <a:lstStyle/>
          <a:p>
            <a:pPr algn="ctr">
              <a:defRPr sz="3600" b="1">
                <a:solidFill>
                  <a:srgbClr val="F2C23E"/>
                </a:solidFill>
                <a:latin typeface="Arial Black"/>
              </a:defRPr>
            </a:pPr>
            <a:r>
              <a:t>PROJECT STRONG WILL REDEFINE IT</a:t>
            </a:r>
          </a:p>
        </p:txBody>
      </p:sp>
      <p:sp>
        <p:nvSpPr>
          <p:cNvPr id="6" name="TextBox 5"/>
          <p:cNvSpPr txBox="1"/>
          <p:nvPr/>
        </p:nvSpPr>
        <p:spPr>
          <a:xfrm>
            <a:off x="914400" y="4389120"/>
            <a:ext cx="10058400" cy="914400"/>
          </a:xfrm>
          <a:prstGeom prst="rect">
            <a:avLst/>
          </a:prstGeom>
          <a:noFill/>
        </p:spPr>
        <p:txBody>
          <a:bodyPr wrap="square"/>
          <a:lstStyle/>
          <a:p>
            <a:pPr algn="ctr">
              <a:defRPr sz="3600" b="1">
                <a:solidFill>
                  <a:srgbClr val="F2C23E"/>
                </a:solidFill>
                <a:latin typeface="Arial Black"/>
              </a:defRPr>
            </a:pPr>
            <a:r>
              <a:t>FOR THE MODERN ERA.</a:t>
            </a:r>
          </a:p>
        </p:txBody>
      </p:sp>
      <p:sp>
        <p:nvSpPr>
          <p:cNvPr id="7" name="TextBox 6"/>
          <p:cNvSpPr txBox="1"/>
          <p:nvPr/>
        </p:nvSpPr>
        <p:spPr>
          <a:xfrm>
            <a:off x="914400" y="5303520"/>
            <a:ext cx="10058400" cy="457200"/>
          </a:xfrm>
          <a:prstGeom prst="rect">
            <a:avLst/>
          </a:prstGeom>
          <a:noFill/>
        </p:spPr>
        <p:txBody>
          <a:bodyPr wrap="square"/>
          <a:lstStyle/>
          <a:p>
            <a:pPr algn="ctr">
              <a:defRPr sz="1800" b="0">
                <a:solidFill>
                  <a:srgbClr val="555555"/>
                </a:solidFill>
                <a:latin typeface="Calibri"/>
              </a:defRPr>
            </a:pPr>
            <a:r>
              <a:t>Thank you — let's build this.</a:t>
            </a:r>
          </a:p>
        </p:txBody>
      </p:sp>
      <p:sp>
        <p:nvSpPr>
          <p:cNvPr id="8" name="TextBox 7"/>
          <p:cNvSpPr txBox="1"/>
          <p:nvPr/>
        </p:nvSpPr>
        <p:spPr>
          <a:xfrm>
            <a:off x="914400" y="6035040"/>
            <a:ext cx="10058400" cy="457200"/>
          </a:xfrm>
          <a:prstGeom prst="rect">
            <a:avLst/>
          </a:prstGeom>
          <a:noFill/>
        </p:spPr>
        <p:txBody>
          <a:bodyPr wrap="square"/>
          <a:lstStyle/>
          <a:p>
            <a:pPr algn="ctr">
              <a:defRPr sz="1600" b="0">
                <a:solidFill>
                  <a:srgbClr val="555555"/>
                </a:solidFill>
                <a:latin typeface="Arial Black"/>
              </a:defRPr>
            </a:pPr>
            <a:r>
              <a:t>Gold's Gym  x  StackHack Labs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BA95BF13F2874EA53C62090463B696" ma:contentTypeVersion="9" ma:contentTypeDescription="Create a new document." ma:contentTypeScope="" ma:versionID="185a819d8b29fb1c5c69deeb9ddc6f6b">
  <xsd:schema xmlns:xsd="http://www.w3.org/2001/XMLSchema" xmlns:xs="http://www.w3.org/2001/XMLSchema" xmlns:p="http://schemas.microsoft.com/office/2006/metadata/properties" xmlns:ns2="45c2ad31-6081-47b0-9a1c-493171cf57bb" xmlns:ns3="f804db37-045c-4be0-9a8e-7e159ca899d9" targetNamespace="http://schemas.microsoft.com/office/2006/metadata/properties" ma:root="true" ma:fieldsID="3b7aed2052f969993216002cb5cd1016" ns2:_="" ns3:_="">
    <xsd:import namespace="45c2ad31-6081-47b0-9a1c-493171cf57bb"/>
    <xsd:import namespace="f804db37-045c-4be0-9a8e-7e159ca899d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c2ad31-6081-47b0-9a1c-493171cf57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7ce0a4e-5409-43ac-ba09-f48763459c2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4db37-045c-4be0-9a8e-7e159ca899d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5615b99-3ffa-4e96-b23e-d128d3dc0517}" ma:internalName="TaxCatchAll" ma:showField="CatchAllData" ma:web="f804db37-045c-4be0-9a8e-7e159ca899d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c2ad31-6081-47b0-9a1c-493171cf57bb">
      <Terms xmlns="http://schemas.microsoft.com/office/infopath/2007/PartnerControls"/>
    </lcf76f155ced4ddcb4097134ff3c332f>
    <TaxCatchAll xmlns="f804db37-045c-4be0-9a8e-7e159ca899d9" xsi:nil="true"/>
  </documentManagement>
</p:properties>
</file>

<file path=customXml/itemProps1.xml><?xml version="1.0" encoding="utf-8"?>
<ds:datastoreItem xmlns:ds="http://schemas.openxmlformats.org/officeDocument/2006/customXml" ds:itemID="{13D7D107-A3E6-4267-82B2-8B05E67278F4}"/>
</file>

<file path=customXml/itemProps2.xml><?xml version="1.0" encoding="utf-8"?>
<ds:datastoreItem xmlns:ds="http://schemas.openxmlformats.org/officeDocument/2006/customXml" ds:itemID="{E126A383-22C5-40EC-B3FB-443FA955D1D8}"/>
</file>

<file path=customXml/itemProps3.xml><?xml version="1.0" encoding="utf-8"?>
<ds:datastoreItem xmlns:ds="http://schemas.openxmlformats.org/officeDocument/2006/customXml" ds:itemID="{9F0644DE-B5C4-4C0D-A582-31744232D3FF}"/>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0x010100A2BA95BF13F2874EA53C62090463B696</vt:lpwstr>
  </property>
</Properties>
</file>