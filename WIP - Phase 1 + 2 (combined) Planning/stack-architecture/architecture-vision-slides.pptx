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ora"/>
              </a:defRPr>
            </a:pPr>
            <a:r>
              <a:t>FROM SILOS TO SYSTEM OF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A8A"/>
                </a:solidFill>
                <a:latin typeface="Inter"/>
              </a:defRPr>
            </a:pPr>
            <a:r>
              <a:t>The Gold's Gym Digital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280160"/>
            <a:ext cx="25400" cy="5303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3B30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ora"/>
              </a:defRPr>
            </a:pPr>
            <a:r>
              <a:t>Siloed Systems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2743200"/>
            <a:ext cx="1828800" cy="1828800"/>
          </a:xfrm>
          <a:prstGeom prst="ellipse">
            <a:avLst/>
          </a:prstGeom>
          <a:solidFill>
            <a:srgbClr val="1B3D2A"/>
          </a:solidFill>
          <a:ln w="25400">
            <a:solidFill>
              <a:srgbClr val="2D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383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Inter"/>
              </a:defRPr>
            </a:pPr>
            <a:r>
              <a:t>Operations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103120"/>
            <a:ext cx="1554480" cy="1554480"/>
          </a:xfrm>
          <a:prstGeom prst="ellipse">
            <a:avLst/>
          </a:prstGeom>
          <a:solidFill>
            <a:srgbClr val="3D2E1A"/>
          </a:solidFill>
          <a:ln w="2540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6060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Inter"/>
              </a:defRPr>
            </a:pPr>
            <a:r>
              <a:t>Sales &amp;</a:t>
            </a:r>
          </a:p>
          <a:p>
            <a:pPr algn="ctr">
              <a:defRPr sz="1600" b="1">
                <a:solidFill>
                  <a:srgbClr val="FBBF24"/>
                </a:solidFill>
                <a:latin typeface="Inter"/>
              </a:defRPr>
            </a:pPr>
            <a:r>
              <a:t>Marketing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86000"/>
            <a:ext cx="1463040" cy="1463040"/>
          </a:xfrm>
          <a:prstGeom prst="ellipse">
            <a:avLst/>
          </a:prstGeom>
          <a:solidFill>
            <a:srgbClr val="1A2A3D"/>
          </a:solidFill>
          <a:ln w="25400"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Inter"/>
              </a:defRPr>
            </a:pPr>
            <a:r>
              <a:t>Data &amp;</a:t>
            </a:r>
          </a:p>
          <a:p>
            <a:pPr algn="ctr">
              <a:defRPr sz="1600" b="1">
                <a:solidFill>
                  <a:srgbClr val="60A5FA"/>
                </a:solidFill>
                <a:latin typeface="Inter"/>
              </a:defRPr>
            </a:pPr>
            <a:r>
              <a:t>Analytics</a:t>
            </a:r>
          </a:p>
        </p:txBody>
      </p:sp>
      <p:sp>
        <p:nvSpPr>
          <p:cNvPr id="14" name="Oval 13"/>
          <p:cNvSpPr/>
          <p:nvPr/>
        </p:nvSpPr>
        <p:spPr>
          <a:xfrm>
            <a:off x="3108960" y="4023360"/>
            <a:ext cx="1371600" cy="1371600"/>
          </a:xfrm>
          <a:prstGeom prst="ellipse">
            <a:avLst/>
          </a:prstGeom>
          <a:solidFill>
            <a:srgbClr val="3D1A2A"/>
          </a:solidFill>
          <a:ln w="25400">
            <a:solidFill>
              <a:srgbClr val="8A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389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7185"/>
                </a:solidFill>
                <a:latin typeface="Inter"/>
              </a:defRPr>
            </a:pPr>
            <a:r>
              <a:t>Member</a:t>
            </a:r>
          </a:p>
          <a:p>
            <a:pPr algn="ctr">
              <a:defRPr sz="1600" b="1">
                <a:solidFill>
                  <a:srgbClr val="FB7185"/>
                </a:solidFill>
                <a:latin typeface="Inter"/>
              </a:defRPr>
            </a:pPr>
            <a:r>
              <a:t>Experience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103120" y="2743200"/>
            <a:ext cx="1554480" cy="274320"/>
          </a:xfrm>
          <a:prstGeom prst="line">
            <a:avLst/>
          </a:prstGeom>
          <a:ln w="12700">
            <a:solidFill>
              <a:srgbClr val="5252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3657600"/>
            <a:ext cx="0" cy="365760"/>
          </a:xfrm>
          <a:prstGeom prst="line">
            <a:avLst/>
          </a:prstGeom>
          <a:ln w="12700">
            <a:solidFill>
              <a:srgbClr val="5252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371600" y="3017520"/>
            <a:ext cx="731520" cy="182880"/>
          </a:xfrm>
          <a:prstGeom prst="line">
            <a:avLst/>
          </a:prstGeom>
          <a:ln w="12700">
            <a:solidFill>
              <a:srgbClr val="5252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43200" y="4480560"/>
            <a:ext cx="457200" cy="91440"/>
          </a:xfrm>
          <a:prstGeom prst="line">
            <a:avLst/>
          </a:prstGeom>
          <a:ln w="12700">
            <a:solidFill>
              <a:srgbClr val="5252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577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Sora"/>
              </a:defRPr>
            </a:pPr>
            <a:r>
              <a:t>20-30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Fragmented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577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Sora"/>
              </a:defRPr>
            </a:pPr>
            <a:r>
              <a:t>48hr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989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Data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577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Sora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989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Unified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Data 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577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3B30"/>
                </a:solidFill>
                <a:latin typeface="Sora"/>
              </a:defRPr>
            </a:pPr>
            <a:r>
              <a:t>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989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Reported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A8A8A"/>
                </a:solidFill>
                <a:latin typeface="Inter"/>
              </a:defRPr>
            </a:pPr>
            <a:r>
              <a:t>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Inter"/>
              </a:defRPr>
            </a:pPr>
            <a:r>
              <a:t>TOMORROW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ora"/>
              </a:defRPr>
            </a:pPr>
            <a:r>
              <a:t>Composable Canvas</a:t>
            </a:r>
          </a:p>
        </p:txBody>
      </p:sp>
      <p:sp>
        <p:nvSpPr>
          <p:cNvPr id="30" name="Oval 29"/>
          <p:cNvSpPr/>
          <p:nvPr/>
        </p:nvSpPr>
        <p:spPr>
          <a:xfrm>
            <a:off x="6675119" y="2103120"/>
            <a:ext cx="3474720" cy="347472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86599" y="2514600"/>
            <a:ext cx="2651760" cy="2651760"/>
          </a:xfrm>
          <a:prstGeom prst="ellipse">
            <a:avLst/>
          </a:prstGeom>
          <a:solidFill>
            <a:srgbClr val="161A16"/>
          </a:solidFill>
          <a:ln w="19050">
            <a:solidFill>
              <a:srgbClr val="2D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52359" y="2880360"/>
            <a:ext cx="1920240" cy="1920240"/>
          </a:xfrm>
          <a:prstGeom prst="ellipse">
            <a:avLst/>
          </a:prstGeom>
          <a:solidFill>
            <a:srgbClr val="161A2A"/>
          </a:solidFill>
          <a:ln w="19050"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95259" y="3223260"/>
            <a:ext cx="1234440" cy="1234440"/>
          </a:xfrm>
          <a:prstGeom prst="ellipse">
            <a:avLst/>
          </a:prstGeom>
          <a:solidFill>
            <a:srgbClr val="2A1A10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92440" y="3520440"/>
            <a:ext cx="640080" cy="64008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11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ra"/>
              </a:defRPr>
            </a:pPr>
            <a:r>
              <a:t>DATA</a:t>
            </a:r>
          </a:p>
          <a:p>
            <a:pPr algn="ctr">
              <a:defRPr sz="1400" b="1">
                <a:solidFill>
                  <a:srgbClr val="FFFFFF"/>
                </a:solidFill>
                <a:latin typeface="Sora"/>
              </a:defRPr>
            </a:pPr>
            <a:r>
              <a:t>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971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Inter"/>
              </a:defRPr>
            </a:pPr>
            <a:r>
              <a:t>SEMANTIC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  <a:latin typeface="Inter"/>
              </a:defRPr>
            </a:pPr>
            <a:r>
              <a:t>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Inter"/>
              </a:defRPr>
            </a:pPr>
            <a:r>
              <a:t>AI DECISIONING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8A8A"/>
                </a:solidFill>
                <a:latin typeface="Inter"/>
              </a:defRPr>
            </a:pPr>
            <a:r>
              <a:t>APPS &amp; AGENTS</a:t>
            </a:r>
          </a:p>
        </p:txBody>
      </p:sp>
      <p:sp>
        <p:nvSpPr>
          <p:cNvPr id="40" name="Oval 39"/>
          <p:cNvSpPr/>
          <p:nvPr/>
        </p:nvSpPr>
        <p:spPr>
          <a:xfrm>
            <a:off x="10332720" y="2623820"/>
            <a:ext cx="101600" cy="1016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7185"/>
                </a:solidFill>
                <a:latin typeface="Inter"/>
              </a:defRPr>
            </a:pPr>
            <a:r>
              <a:t>Member App</a:t>
            </a:r>
          </a:p>
        </p:txBody>
      </p:sp>
      <p:sp>
        <p:nvSpPr>
          <p:cNvPr id="42" name="Oval 41"/>
          <p:cNvSpPr/>
          <p:nvPr/>
        </p:nvSpPr>
        <p:spPr>
          <a:xfrm>
            <a:off x="10332720" y="2971291"/>
            <a:ext cx="101600" cy="10160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61320" y="29077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7185"/>
                </a:solidFill>
                <a:latin typeface="Inter"/>
              </a:defRPr>
            </a:pPr>
            <a:r>
              <a:t>Digital Training</a:t>
            </a:r>
          </a:p>
        </p:txBody>
      </p:sp>
      <p:sp>
        <p:nvSpPr>
          <p:cNvPr id="44" name="Oval 43"/>
          <p:cNvSpPr/>
          <p:nvPr/>
        </p:nvSpPr>
        <p:spPr>
          <a:xfrm>
            <a:off x="10332720" y="3318763"/>
            <a:ext cx="101600" cy="101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32552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Inter"/>
              </a:defRPr>
            </a:pPr>
            <a:r>
              <a:t>POS</a:t>
            </a:r>
          </a:p>
        </p:txBody>
      </p:sp>
      <p:sp>
        <p:nvSpPr>
          <p:cNvPr id="46" name="Oval 45"/>
          <p:cNvSpPr/>
          <p:nvPr/>
        </p:nvSpPr>
        <p:spPr>
          <a:xfrm>
            <a:off x="10332720" y="3666236"/>
            <a:ext cx="101600" cy="101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20" y="3602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Inter"/>
              </a:defRPr>
            </a:pPr>
            <a:r>
              <a:t>Gate Control</a:t>
            </a:r>
          </a:p>
        </p:txBody>
      </p:sp>
      <p:sp>
        <p:nvSpPr>
          <p:cNvPr id="48" name="Oval 47"/>
          <p:cNvSpPr/>
          <p:nvPr/>
        </p:nvSpPr>
        <p:spPr>
          <a:xfrm>
            <a:off x="10332720" y="4013708"/>
            <a:ext cx="101600" cy="101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3950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Inter"/>
              </a:defRPr>
            </a:pPr>
            <a:r>
              <a:t>Staff Tools</a:t>
            </a:r>
          </a:p>
        </p:txBody>
      </p:sp>
      <p:sp>
        <p:nvSpPr>
          <p:cNvPr id="50" name="Oval 49"/>
          <p:cNvSpPr/>
          <p:nvPr/>
        </p:nvSpPr>
        <p:spPr>
          <a:xfrm>
            <a:off x="10332720" y="4361179"/>
            <a:ext cx="101600" cy="101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61320" y="4297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Inter"/>
              </a:defRPr>
            </a:pPr>
            <a:r>
              <a:t>Franchise Portal</a:t>
            </a:r>
          </a:p>
        </p:txBody>
      </p:sp>
      <p:sp>
        <p:nvSpPr>
          <p:cNvPr id="52" name="Oval 51"/>
          <p:cNvSpPr/>
          <p:nvPr/>
        </p:nvSpPr>
        <p:spPr>
          <a:xfrm>
            <a:off x="10332720" y="4708652"/>
            <a:ext cx="101600" cy="10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4645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Inter"/>
              </a:defRPr>
            </a:pPr>
            <a:r>
              <a:t>AI Agents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486400" y="3474720"/>
            <a:ext cx="457200" cy="320040"/>
          </a:xfrm>
          <a:prstGeom prst="right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5486400"/>
            <a:ext cx="530352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3680" y="5623560"/>
            <a:ext cx="27432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FFFFFF"/>
                </a:solidFill>
                <a:latin typeface="Inter"/>
              </a:defRPr>
            </a:pPr>
            <a:r>
              <a:t>Every capability connects. Every decision is</a:t>
            </a:r>
          </a:p>
          <a:p>
            <a:pPr algn="l">
              <a:lnSpc>
                <a:spcPts val="2000"/>
              </a:lnSpc>
              <a:defRPr sz="1400" b="0">
                <a:solidFill>
                  <a:srgbClr val="FFFFFF"/>
                </a:solidFill>
                <a:latin typeface="Inter"/>
              </a:defRPr>
            </a:pPr>
            <a:r>
              <a:t>data-informed. Every location is unified.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6217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Sora"/>
              </a:defRPr>
            </a:pPr>
            <a:r>
              <a:t>200+ locations. One platform. Zero silos.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ora"/>
              </a:defRPr>
            </a:pPr>
            <a:r>
              <a:t>THE GOLD'S GYM COMPOSABLE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A8A"/>
                </a:solidFill>
                <a:latin typeface="Inter"/>
              </a:defRPr>
            </a:pPr>
            <a:r>
              <a:t>5 Rings of Capability  |  One Unified Platform</a:t>
            </a:r>
          </a:p>
        </p:txBody>
      </p:sp>
      <p:sp>
        <p:nvSpPr>
          <p:cNvPr id="5" name="Oval 4"/>
          <p:cNvSpPr/>
          <p:nvPr/>
        </p:nvSpPr>
        <p:spPr>
          <a:xfrm>
            <a:off x="3717950" y="1280160"/>
            <a:ext cx="4754880" cy="475488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66590" y="1828800"/>
            <a:ext cx="3657600" cy="3657600"/>
          </a:xfrm>
          <a:prstGeom prst="ellipse">
            <a:avLst/>
          </a:prstGeom>
          <a:solidFill>
            <a:srgbClr val="161A16"/>
          </a:solidFill>
          <a:ln w="19050">
            <a:solidFill>
              <a:srgbClr val="2D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69510" y="2331720"/>
            <a:ext cx="2651760" cy="2651760"/>
          </a:xfrm>
          <a:prstGeom prst="ellipse">
            <a:avLst/>
          </a:prstGeom>
          <a:solidFill>
            <a:srgbClr val="161A2A"/>
          </a:solidFill>
          <a:ln w="19050"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72430" y="2834640"/>
            <a:ext cx="1645920" cy="1645920"/>
          </a:xfrm>
          <a:prstGeom prst="ellipse">
            <a:avLst/>
          </a:prstGeom>
          <a:solidFill>
            <a:srgbClr val="2A1A10"/>
          </a:solidFill>
          <a:ln w="19050">
            <a:solidFill>
              <a:srgbClr val="8B6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050" y="3223260"/>
            <a:ext cx="868680" cy="86868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2470" y="340156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ra"/>
              </a:defRPr>
            </a:pPr>
            <a:r>
              <a:t>UNIFIED</a:t>
            </a:r>
          </a:p>
          <a:p>
            <a:pPr algn="ctr">
              <a:defRPr sz="1300" b="1">
                <a:solidFill>
                  <a:srgbClr val="FFFFFF"/>
                </a:solidFill>
                <a:latin typeface="Sora"/>
              </a:defRPr>
            </a:pPr>
            <a:r>
              <a:t>DATA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5310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843"/>
                </a:solidFill>
                <a:latin typeface="Inter"/>
              </a:defRPr>
            </a:pPr>
            <a:r>
              <a:t>SEMANTIC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8150" y="2103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  <a:latin typeface="Inter"/>
              </a:defRPr>
            </a:pPr>
            <a:r>
              <a:t>CONTEXT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9590" y="1645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Inter"/>
              </a:defRPr>
            </a:pPr>
            <a:r>
              <a:t>AI DECISIONING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5310" y="1097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APPS &amp;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9630" y="4160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Inter"/>
              </a:defRPr>
            </a:pPr>
            <a:r>
              <a:t>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9630" y="43616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Inter"/>
              </a:defRPr>
            </a:pPr>
            <a: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9630" y="45628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9630" y="47640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Inter"/>
              </a:defRPr>
            </a:pPr>
            <a: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9630" y="496519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4A843"/>
                </a:solidFill>
                <a:latin typeface="Inter"/>
              </a:defRPr>
            </a:pPr>
            <a:r>
              <a:t>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13716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508760"/>
            <a:ext cx="2286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Sora"/>
              </a:defRPr>
            </a:pPr>
            <a:r>
              <a:t>DATA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Member profiles, transaction history,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franchise operations, content library,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AI models, governance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9718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2286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Sora"/>
              </a:defRPr>
            </a:pPr>
            <a:r>
              <a:t>SEMANTIC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"Active member" means the same thing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across 200+ locations. Revenue, visits,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and KPIs — one definition everywhere.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5720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1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2286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Sora"/>
              </a:defRPr>
            </a:pPr>
            <a:r>
              <a:t>CONTEXT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Member 360 Platform, FranConnect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Intelligence, Operational Data Services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— replaces fragmented CRM/CDP/BI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13716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D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1508760"/>
            <a:ext cx="2286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ora"/>
              </a:defRPr>
            </a:pPr>
            <a:r>
              <a:t>AI DECISIONING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965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Personalized member journeys,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predictive churn, dynamic scheduling,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franchise performance optimization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29718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3108960"/>
            <a:ext cx="228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ora"/>
              </a:defRPr>
            </a:pPr>
            <a:r>
              <a:t>APPS &amp;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Member App, Digital Training, POS,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Gate Control, Staff Management,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Scheduling, Inventory, Rewards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572000"/>
            <a:ext cx="3108960" cy="1417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4709160"/>
            <a:ext cx="2286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Sora"/>
              </a:defRPr>
            </a:pPr>
            <a:r>
              <a:t>CUSTOM AI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166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What competitors can't buy.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Proprietary workflows that encode</a:t>
            </a:r>
          </a:p>
          <a:p>
            <a:pPr algn="l">
              <a:lnSpc>
                <a:spcPts val="1700"/>
              </a:lnSpc>
              <a:defRPr sz="1200" b="0">
                <a:solidFill>
                  <a:srgbClr val="8A8A8A"/>
                </a:solidFill>
                <a:latin typeface="Inter"/>
              </a:defRPr>
            </a:pPr>
            <a:r>
              <a:t>what makes Gold's Gym unique.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6217920"/>
            <a:ext cx="11612880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6291072"/>
            <a:ext cx="5080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263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ora"/>
              </a:defRPr>
            </a:pPr>
            <a:r>
              <a:t>Integration that scales: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6263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A8A"/>
                </a:solidFill>
                <a:latin typeface="Inter"/>
              </a:defRPr>
            </a:pPr>
            <a:r>
              <a:t>Adding a new capability = plugging into the canvas, not rebuilding the plumbing.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23620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ADE80"/>
                </a:solidFill>
                <a:latin typeface="Sora"/>
              </a:defRPr>
            </a:pPr>
            <a:r>
              <a:t>O(log 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A95BF13F2874EA53C62090463B696" ma:contentTypeVersion="9" ma:contentTypeDescription="Create a new document." ma:contentTypeScope="" ma:versionID="185a819d8b29fb1c5c69deeb9ddc6f6b">
  <xsd:schema xmlns:xsd="http://www.w3.org/2001/XMLSchema" xmlns:xs="http://www.w3.org/2001/XMLSchema" xmlns:p="http://schemas.microsoft.com/office/2006/metadata/properties" xmlns:ns2="45c2ad31-6081-47b0-9a1c-493171cf57bb" xmlns:ns3="f804db37-045c-4be0-9a8e-7e159ca899d9" targetNamespace="http://schemas.microsoft.com/office/2006/metadata/properties" ma:root="true" ma:fieldsID="3b7aed2052f969993216002cb5cd1016" ns2:_="" ns3:_="">
    <xsd:import namespace="45c2ad31-6081-47b0-9a1c-493171cf57bb"/>
    <xsd:import namespace="f804db37-045c-4be0-9a8e-7e159ca899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c2ad31-6081-47b0-9a1c-493171cf57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7ce0a4e-5409-43ac-ba09-f48763459c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4db37-045c-4be0-9a8e-7e159ca899d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5615b99-3ffa-4e96-b23e-d128d3dc0517}" ma:internalName="TaxCatchAll" ma:showField="CatchAllData" ma:web="f804db37-045c-4be0-9a8e-7e159ca899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c2ad31-6081-47b0-9a1c-493171cf57bb">
      <Terms xmlns="http://schemas.microsoft.com/office/infopath/2007/PartnerControls"/>
    </lcf76f155ced4ddcb4097134ff3c332f>
    <TaxCatchAll xmlns="f804db37-045c-4be0-9a8e-7e159ca899d9" xsi:nil="true"/>
  </documentManagement>
</p:properties>
</file>

<file path=customXml/itemProps1.xml><?xml version="1.0" encoding="utf-8"?>
<ds:datastoreItem xmlns:ds="http://schemas.openxmlformats.org/officeDocument/2006/customXml" ds:itemID="{643000A8-73D4-481F-ADC8-BBF83C0A54D6}"/>
</file>

<file path=customXml/itemProps2.xml><?xml version="1.0" encoding="utf-8"?>
<ds:datastoreItem xmlns:ds="http://schemas.openxmlformats.org/officeDocument/2006/customXml" ds:itemID="{C272F364-B4C3-40B5-84DA-C09FAE57D382}"/>
</file>

<file path=customXml/itemProps3.xml><?xml version="1.0" encoding="utf-8"?>
<ds:datastoreItem xmlns:ds="http://schemas.openxmlformats.org/officeDocument/2006/customXml" ds:itemID="{CB9D6A63-5521-4763-A14D-D26E697AE1C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0x010100A2BA95BF13F2874EA53C62090463B696</vt:lpwstr>
  </property>
</Properties>
</file>